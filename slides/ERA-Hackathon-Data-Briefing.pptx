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9e4be1eac4cdb" /><Relationship Type="http://schemas.openxmlformats.org/officeDocument/2006/relationships/extended-properties" Target="/docProps/app.xml" Id="Re6d30be3265749da" /><Relationship Type="http://schemas.openxmlformats.org/officeDocument/2006/relationships/officeDocument" Target="/ppt/presentation.xml" Id="Rbd1c532af68548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f3fcb3c86049c9"/>
  </p:sldMasterIdLst>
  <p:notesMasterIdLst>
    <p:notesMasterId xmlns:r="http://schemas.openxmlformats.org/officeDocument/2006/relationships" r:id="R55bd42a6318a4472"/>
  </p:notesMasterIdLst>
  <p:sldIdLst>
    <p:sldId xmlns:r="http://schemas.openxmlformats.org/officeDocument/2006/relationships" id="256" r:id="R89c0ec1784664d73"/>
    <p:sldId xmlns:r="http://schemas.openxmlformats.org/officeDocument/2006/relationships" id="257" r:id="Rd21a7d6bd88341f8"/>
    <p:sldId xmlns:r="http://schemas.openxmlformats.org/officeDocument/2006/relationships" id="258" r:id="R996f5f4ab5614b38"/>
    <p:sldId xmlns:r="http://schemas.openxmlformats.org/officeDocument/2006/relationships" id="259" r:id="R0944e053a0f8418d"/>
    <p:sldId xmlns:r="http://schemas.openxmlformats.org/officeDocument/2006/relationships" id="260" r:id="R402a5427f60445de"/>
    <p:sldId xmlns:r="http://schemas.openxmlformats.org/officeDocument/2006/relationships" id="261" r:id="R469b9a658d3347f9"/>
    <p:sldId xmlns:r="http://schemas.openxmlformats.org/officeDocument/2006/relationships" id="262" r:id="Ra43df729861e43d9"/>
    <p:sldId xmlns:r="http://schemas.openxmlformats.org/officeDocument/2006/relationships" id="263" r:id="R3c3582aeaeb940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efe607b0e4cf9" /><Relationship Type="http://schemas.openxmlformats.org/officeDocument/2006/relationships/slideMaster" Target="/ppt/slideMasters/slideMaster1.xml" Id="Ra5f3fcb3c86049c9" /><Relationship Type="http://schemas.openxmlformats.org/officeDocument/2006/relationships/notesMaster" Target="/ppt/notesMasters/notesMaster1.xml" Id="R55bd42a6318a4472" /><Relationship Type="http://schemas.openxmlformats.org/officeDocument/2006/relationships/presProps" Target="/ppt/presProps.xml" Id="R036776df91094385" /><Relationship Type="http://schemas.openxmlformats.org/officeDocument/2006/relationships/viewProps" Target="/ppt/viewProps.xml" Id="R3b17ef6233864fb7" /><Relationship Type="http://schemas.openxmlformats.org/officeDocument/2006/relationships/tableStyles" Target="/ppt/tableStyles.xml" Id="Rb02b993e3f8d4f9c" /><Relationship Type="http://schemas.openxmlformats.org/officeDocument/2006/relationships/slide" Target="/ppt/slides/slide1.xml" Id="R89c0ec1784664d73" /><Relationship Type="http://schemas.openxmlformats.org/officeDocument/2006/relationships/slide" Target="/ppt/slides/slide2.xml" Id="Rd21a7d6bd88341f8" /><Relationship Type="http://schemas.openxmlformats.org/officeDocument/2006/relationships/slide" Target="/ppt/slides/slide3.xml" Id="R996f5f4ab5614b38" /><Relationship Type="http://schemas.openxmlformats.org/officeDocument/2006/relationships/slide" Target="/ppt/slides/slide4.xml" Id="R0944e053a0f8418d" /><Relationship Type="http://schemas.openxmlformats.org/officeDocument/2006/relationships/slide" Target="/ppt/slides/slide5.xml" Id="R402a5427f60445de" /><Relationship Type="http://schemas.openxmlformats.org/officeDocument/2006/relationships/slide" Target="/ppt/slides/slide6.xml" Id="R469b9a658d3347f9" /><Relationship Type="http://schemas.openxmlformats.org/officeDocument/2006/relationships/slide" Target="/ppt/slides/slide7.xml" Id="Ra43df729861e43d9" /><Relationship Type="http://schemas.openxmlformats.org/officeDocument/2006/relationships/slide" Target="/ppt/slides/slide8.xml" Id="R3c3582aeaeb940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002427e6c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c3918336c4601" /><Relationship Type="http://schemas.openxmlformats.org/officeDocument/2006/relationships/notesMaster" Target="/ppt/notesMasters/notesMaster1.xml" Id="R32e15a80a7fe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7ea976649c4c0d" /><Relationship Type="http://schemas.openxmlformats.org/officeDocument/2006/relationships/notesMaster" Target="/ppt/notesMasters/notesMaster1.xml" Id="R2f51536b7fa1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425c3090849ee" /><Relationship Type="http://schemas.openxmlformats.org/officeDocument/2006/relationships/notesMaster" Target="/ppt/notesMasters/notesMaster1.xml" Id="R3fa69731675745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0ba6e68535415b" /><Relationship Type="http://schemas.openxmlformats.org/officeDocument/2006/relationships/notesMaster" Target="/ppt/notesMasters/notesMaster1.xml" Id="R214ab0a89564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cebc5c940443b2" /><Relationship Type="http://schemas.openxmlformats.org/officeDocument/2006/relationships/notesMaster" Target="/ppt/notesMasters/notesMaster1.xml" Id="Rdb28687662ff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c4d4ef6e2a48ee" /><Relationship Type="http://schemas.openxmlformats.org/officeDocument/2006/relationships/notesMaster" Target="/ppt/notesMasters/notesMaster1.xml" Id="R74d051d04d8542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6220998868484e" /><Relationship Type="http://schemas.openxmlformats.org/officeDocument/2006/relationships/notesMaster" Target="/ppt/notesMasters/notesMaster1.xml" Id="R3e3c158d4c4e48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4b32fc3f0c4254" /><Relationship Type="http://schemas.openxmlformats.org/officeDocument/2006/relationships/notesMaster" Target="/ppt/notesMasters/notesMaster1.xml" Id="R5a6f8fc689fd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../TASK.md</a:t>
            </a:r>
            <a:endParaRPr/>
          </a:p>
          <a:p xmlns:a="http://schemas.openxmlformats.org/drawingml/2006/main">
            <a:r>
              <a:t>- ../data/data_dictionary.md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3ab7afc9941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96cb9bd5de427f" /><Relationship Type="http://schemas.openxmlformats.org/officeDocument/2006/relationships/slideLayout" Target="/ppt/slideLayouts/slideLayout1.xml" Id="R3edf2b5060f7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df2b5060f7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632ee2431493e" /><Relationship Type="http://schemas.openxmlformats.org/officeDocument/2006/relationships/notesSlide" Target="/ppt/notesSlides/notesSlide1.xml" Id="R5bdec9aeeda748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191f5071b470d" /><Relationship Type="http://schemas.openxmlformats.org/officeDocument/2006/relationships/notesSlide" Target="/ppt/notesSlides/notesSlide2.xml" Id="R9f0d6730f81943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5095c402f4aef" /><Relationship Type="http://schemas.openxmlformats.org/officeDocument/2006/relationships/notesSlide" Target="/ppt/notesSlides/notesSlide3.xml" Id="Rcb3e2128af2c42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4fa07caaa4071" /><Relationship Type="http://schemas.openxmlformats.org/officeDocument/2006/relationships/notesSlide" Target="/ppt/notesSlides/notesSlide4.xml" Id="Rac8baa823d1b49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9dee5afbe4a4c" /><Relationship Type="http://schemas.openxmlformats.org/officeDocument/2006/relationships/notesSlide" Target="/ppt/notesSlides/notesSlide5.xml" Id="R0c9cebe9ea8d47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e9d90c290422a" /><Relationship Type="http://schemas.openxmlformats.org/officeDocument/2006/relationships/notesSlide" Target="/ppt/notesSlides/notesSlide6.xml" Id="R1d4919d2e78540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9437e99fd46d2" /><Relationship Type="http://schemas.openxmlformats.org/officeDocument/2006/relationships/notesSlide" Target="/ppt/notesSlides/notesSlide7.xml" Id="R99ee186e7e7447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ad34c25784ebd" /><Relationship Type="http://schemas.openxmlformats.org/officeDocument/2006/relationships/notesSlide" Target="/ppt/notesSlides/notesSlide8.xml" Id="Rb2d6aff6df0e42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1CC4825-7955-4BF3-B1B4-690D5A13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ERA Skills School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F8986E-5C02-4145-830C-93A5BB4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06680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Keele energy challenge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616F3F0-20B9-4038-8E51-F0CD17E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SEND campus energy data | 17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77995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1CC4825-7955-4BF3-B1B4-690D5A13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Main question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F8986E-5C02-4145-830C-93A5BB4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06680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When does generation exceed demand?</a:t>
            </a:r>
          </a:p>
        </p:txBody>
      </p:sp>
    </p:spTree>
    <p:extLst>
      <p:ext uri="{BB962C8B-B14F-4D97-AF65-F5344CB8AC3E}">
        <p14:creationId xmlns:p14="http://schemas.microsoft.com/office/powerpoint/2010/main" val="2077995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ata-title">
            <a:extLst xmlns:a="http://schemas.openxmlformats.org/drawingml/2006/main">
              <a:ext uri="{FF2B5EF4-FFF2-40B4-BE49-F238E27FC236}">
                <a16:creationId xmlns:a16="http://schemas.microsoft.com/office/drawing/2014/main" id="{230C7CD0-3079-48D2-BD87-ABA225F1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dataset</a:t>
            </a:r>
            <a:endParaRPr/>
          </a:p>
        </p:txBody>
      </p:sp>
      <p:sp>
        <p:nvSpPr>
          <p:cNvPr id="2" name="data-summary">
            <a:extLst xmlns:a="http://schemas.openxmlformats.org/drawingml/2006/main">
              <a:ext uri="{FF2B5EF4-FFF2-40B4-BE49-F238E27FC236}">
                <a16:creationId xmlns:a16="http://schemas.microsoft.com/office/drawing/2014/main" id="{E1196E17-F51D-4F6C-8146-F784BB94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Three annual CSV files cover 2023, 2024 and 2025. Each row covers five minutes.</a:t>
            </a:r>
          </a:p>
        </p:txBody>
      </p:sp>
      <p:sp>
        <p:nvSpPr>
          <p:cNvPr id="3" name="data-provenance">
            <a:extLst xmlns:a="http://schemas.openxmlformats.org/drawingml/2006/main">
              <a:ext uri="{FF2B5EF4-FFF2-40B4-BE49-F238E27FC236}">
                <a16:creationId xmlns:a16="http://schemas.microsoft.com/office/drawing/2014/main" id="{7F302E83-D826-4E3E-B1F3-FC5FFA32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2023 is reviewed and repaired. 2024 and 2025 are reconstructed. Compare years with care.</a:t>
            </a:r>
          </a:p>
        </p:txBody>
      </p:sp>
      <p:graphicFrame>
        <p:nvGraphicFramePr>
          <p:cNvPr id="11" name="Table 8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6667500"/>
                <a:gridCol w="1581150"/>
              </a:tblGrid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Column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Plain meaning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Unit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DateTime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Date and 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Date/time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power-con-ave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Campus electricity consumption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kW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power-gen-wt-ave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Wind-turbine 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kW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power-gen-pv-ave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Solar generation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kW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slide-2-number-text">
            <a:extLst xmlns:a="http://schemas.openxmlformats.org/drawingml/2006/main">
              <a:ext uri="{FF2B5EF4-FFF2-40B4-BE49-F238E27FC236}">
                <a16:creationId xmlns:a16="http://schemas.microsoft.com/office/drawing/2014/main" id="{49940877-A1AF-4AAE-850C-7BF0F620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3204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ata-title">
            <a:extLst xmlns:a="http://schemas.openxmlformats.org/drawingml/2006/main">
              <a:ext uri="{FF2B5EF4-FFF2-40B4-BE49-F238E27FC236}">
                <a16:creationId xmlns:a16="http://schemas.microsoft.com/office/drawing/2014/main" id="{230C7CD0-3079-48D2-BD87-ABA225F1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Power and energy</a:t>
            </a:r>
            <a:endParaRPr/>
          </a:p>
        </p:txBody>
      </p:sp>
      <p:sp>
        <p:nvSpPr>
          <p:cNvPr id="2" name="data-summary">
            <a:extLst xmlns:a="http://schemas.openxmlformats.org/drawingml/2006/main">
              <a:ext uri="{FF2B5EF4-FFF2-40B4-BE49-F238E27FC236}">
                <a16:creationId xmlns:a16="http://schemas.microsoft.com/office/drawing/2014/main" id="{E1196E17-F51D-4F6C-8146-F784BB94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Each row is a five-minute average power reading. Energy accumulates over time.</a:t>
            </a:r>
          </a:p>
        </p:txBody>
      </p:sp>
      <p:sp>
        <p:nvSpPr>
          <p:cNvPr id="3" name="data-provenance">
            <a:extLst xmlns:a="http://schemas.openxmlformats.org/drawingml/2006/main">
              <a:ext uri="{FF2B5EF4-FFF2-40B4-BE49-F238E27FC236}">
                <a16:creationId xmlns:a16="http://schemas.microsoft.com/office/drawing/2014/main" id="{7F302E83-D826-4E3E-B1F3-FC5FFA32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For five-minute data: energy in MWh = sum of kW readings / 12,000.</a:t>
            </a:r>
          </a:p>
        </p:txBody>
      </p:sp>
      <p:graphicFrame>
        <p:nvGraphicFramePr>
          <p:cNvPr id="11" name="Table 8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6667500"/>
                <a:gridCol w="1581150"/>
              </a:tblGrid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Plain meaning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Unit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Power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Rate of electricity use or 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kW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Energy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Power accumulated over time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MWh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Balance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Generation minus consumption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kW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Excess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The positive part of the balance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kW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slide-2-number-text">
            <a:extLst xmlns:a="http://schemas.openxmlformats.org/drawingml/2006/main">
              <a:ext uri="{FF2B5EF4-FFF2-40B4-BE49-F238E27FC236}">
                <a16:creationId xmlns:a16="http://schemas.microsoft.com/office/drawing/2014/main" id="{49940877-A1AF-4AAE-850C-7BF0F620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3204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sk-title">
            <a:extLst xmlns:a="http://schemas.openxmlformats.org/drawingml/2006/main">
              <a:ext uri="{FF2B5EF4-FFF2-40B4-BE49-F238E27FC236}">
                <a16:creationId xmlns:a16="http://schemas.microsoft.com/office/drawing/2014/main" id="{B48C8150-5E13-4F7E-8EB0-4777CD11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Data exploration</a:t>
            </a:r>
          </a:p>
        </p:txBody>
      </p:sp>
      <p:sp>
        <p:nvSpPr>
          <p:cNvPr id="3" name="task-output">
            <a:extLst xmlns:a="http://schemas.openxmlformats.org/drawingml/2006/main">
              <a:ext uri="{FF2B5EF4-FFF2-40B4-BE49-F238E27FC236}">
                <a16:creationId xmlns:a16="http://schemas.microsoft.com/office/drawing/2014/main" id="{7D38F6A7-9D28-4CBC-8B69-75F7E9E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Use the visual plotting extension. You do not need to write code.</a:t>
            </a:r>
          </a:p>
        </p:txBody>
      </p:sp>
      <p:graphicFrame>
        <p:nvGraphicFramePr>
          <p:cNvPr id="10" name="Table 8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113919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0344150"/>
              </a:tblGrid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Open one annual CSV. Check the columns, units and dates.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Plot consumption, wind and solar for one day or week.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Note one pattern that looks reasonable.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Note one feature you would check before relying on it.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ide-3-number-text">
            <a:extLst xmlns:a="http://schemas.openxmlformats.org/drawingml/2006/main">
              <a:ext uri="{FF2B5EF4-FFF2-40B4-BE49-F238E27FC236}">
                <a16:creationId xmlns:a16="http://schemas.microsoft.com/office/drawing/2014/main" id="{E7C6AE75-F051-4489-B2EF-8AE8764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278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sk-title">
            <a:extLst xmlns:a="http://schemas.openxmlformats.org/drawingml/2006/main">
              <a:ext uri="{FF2B5EF4-FFF2-40B4-BE49-F238E27FC236}">
                <a16:creationId xmlns:a16="http://schemas.microsoft.com/office/drawing/2014/main" id="{B48C8150-5E13-4F7E-8EB0-4777CD11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Challenge options</a:t>
            </a:r>
          </a:p>
        </p:txBody>
      </p:sp>
      <p:sp>
        <p:nvSpPr>
          <p:cNvPr id="3" name="task-output">
            <a:extLst xmlns:a="http://schemas.openxmlformats.org/drawingml/2006/main">
              <a:ext uri="{FF2B5EF4-FFF2-40B4-BE49-F238E27FC236}">
                <a16:creationId xmlns:a16="http://schemas.microsoft.com/office/drawing/2014/main" id="{7D38F6A7-9D28-4CBC-8B69-75F7E9E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State your assumptions. A careful limitation is part of a strong answer.</a:t>
            </a:r>
          </a:p>
        </p:txBody>
      </p:sp>
      <p:graphicFrame>
        <p:nvGraphicFramePr>
          <p:cNvPr id="10" name="Table 8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113919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0344150"/>
              </a:tblGrid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Compare years: how do demand and renewable generation change?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Find excess: when, how often and for how long?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Audit zeros: which look expected, and which need checking?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Advise Keele: which flexible response fits a recurring surplus?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ide-3-number-text">
            <a:extLst xmlns:a="http://schemas.openxmlformats.org/drawingml/2006/main">
              <a:ext uri="{FF2B5EF4-FFF2-40B4-BE49-F238E27FC236}">
                <a16:creationId xmlns:a16="http://schemas.microsoft.com/office/drawing/2014/main" id="{E7C6AE75-F051-4489-B2EF-8AE8764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2785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sk-title">
            <a:extLst xmlns:a="http://schemas.openxmlformats.org/drawingml/2006/main">
              <a:ext uri="{FF2B5EF4-FFF2-40B4-BE49-F238E27FC236}">
                <a16:creationId xmlns:a16="http://schemas.microsoft.com/office/drawing/2014/main" id="{B48C8150-5E13-4F7E-8EB0-4777CD11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Group presentation</a:t>
            </a:r>
          </a:p>
        </p:txBody>
      </p:sp>
      <p:sp>
        <p:nvSpPr>
          <p:cNvPr id="3" name="task-output">
            <a:extLst xmlns:a="http://schemas.openxmlformats.org/drawingml/2006/main">
              <a:ext uri="{FF2B5EF4-FFF2-40B4-BE49-F238E27FC236}">
                <a16:creationId xmlns:a16="http://schemas.microsoft.com/office/drawing/2014/main" id="{7D38F6A7-9D28-4CBC-8B69-75F7E9E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Four minutes to present, followed by one minute for a question.</a:t>
            </a:r>
          </a:p>
        </p:txBody>
      </p:sp>
      <p:graphicFrame>
        <p:nvGraphicFramePr>
          <p:cNvPr id="10" name="Table 8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113919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0344150"/>
              </a:tblGrid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One clearly labelled plot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One numerical finding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Why the finding matters for Keele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</a:rPr>
                        <a:t>One limitation, plus what your group found useful or difficult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ide-3-number-text">
            <a:extLst xmlns:a="http://schemas.openxmlformats.org/drawingml/2006/main">
              <a:ext uri="{FF2B5EF4-FFF2-40B4-BE49-F238E27FC236}">
                <a16:creationId xmlns:a16="http://schemas.microsoft.com/office/drawing/2014/main" id="{E7C6AE75-F051-4489-B2EF-8AE8764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2785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F8986E-5C02-4145-830C-93A5BB4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06680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Evidence and limits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616F3F0-20B9-4038-8E51-F0CD17E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Show the finding, its limits and the next check.</a:t>
            </a:r>
          </a:p>
        </p:txBody>
      </p:sp>
    </p:spTree>
    <p:extLst>
      <p:ext uri="{BB962C8B-B14F-4D97-AF65-F5344CB8AC3E}">
        <p14:creationId xmlns:p14="http://schemas.microsoft.com/office/powerpoint/2010/main" val="2077995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2026-08-29T12:54:17.5050000Z</dcterms:created>
  <dcterms:modified xsi:type="dcterms:W3CDTF">2026-08-29T12:54:17.5050000Z</dcterms:modified>
</coreProperties>
</file>