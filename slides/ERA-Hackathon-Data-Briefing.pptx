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19c0d26c7d4494f" /><Relationship Type="http://schemas.openxmlformats.org/officeDocument/2006/relationships/extended-properties" Target="/docProps/app.xml" Id="R0a6bf91eb33a434c" /><Relationship Type="http://schemas.openxmlformats.org/officeDocument/2006/relationships/officeDocument" Target="/ppt/presentation.xml" Id="Rdad6e4617f7c4401" /></Relationships>
</file>

<file path=ppt/presentation.xml><?xml version="1.0" encoding="utf-8"?>
<p:presentation xmlns:p="http://schemas.openxmlformats.org/presentationml/2006/main">
  <p:sldMasterIdLst>
    <p:sldMasterId xmlns:r="http://schemas.openxmlformats.org/officeDocument/2006/relationships" id="2147483648" r:id="R41b210fb6e6c491a"/>
  </p:sldMasterIdLst>
  <p:notesMasterIdLst>
    <p:notesMasterId xmlns:r="http://schemas.openxmlformats.org/officeDocument/2006/relationships" r:id="R074fbce400934839"/>
  </p:notesMasterIdLst>
  <p:sldIdLst>
    <p:sldId xmlns:r="http://schemas.openxmlformats.org/officeDocument/2006/relationships" id="256" r:id="R6f0c9344771049cd"/>
    <p:sldId xmlns:r="http://schemas.openxmlformats.org/officeDocument/2006/relationships" id="257" r:id="Rade8062613f64c50"/>
    <p:sldId xmlns:r="http://schemas.openxmlformats.org/officeDocument/2006/relationships" id="258" r:id="R8cdb4152dff94750"/>
    <p:sldId xmlns:r="http://schemas.openxmlformats.org/officeDocument/2006/relationships" id="259" r:id="Rae2e530a04cc4a92"/>
    <p:sldId xmlns:r="http://schemas.openxmlformats.org/officeDocument/2006/relationships" id="260" r:id="R004c2183a1794c1c"/>
    <p:sldId xmlns:r="http://schemas.openxmlformats.org/officeDocument/2006/relationships" id="261" r:id="R4035d9a9a3a94beb"/>
    <p:sldId xmlns:r="http://schemas.openxmlformats.org/officeDocument/2006/relationships" id="262" r:id="R6accd3809fdf4019"/>
    <p:sldId xmlns:r="http://schemas.openxmlformats.org/officeDocument/2006/relationships" id="263" r:id="R5cd6e5c24f3b43b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1af92319df0845c5" /><Relationship Type="http://schemas.openxmlformats.org/officeDocument/2006/relationships/slideMaster" Target="/ppt/slideMasters/slideMaster1.xml" Id="R41b210fb6e6c491a" /><Relationship Type="http://schemas.openxmlformats.org/officeDocument/2006/relationships/notesMaster" Target="/ppt/notesMasters/notesMaster1.xml" Id="R074fbce400934839" /><Relationship Type="http://schemas.openxmlformats.org/officeDocument/2006/relationships/presProps" Target="/ppt/presProps.xml" Id="Rf29b4fc7b69e4cd4" /><Relationship Type="http://schemas.openxmlformats.org/officeDocument/2006/relationships/viewProps" Target="/ppt/viewProps.xml" Id="R713f90a337324f52" /><Relationship Type="http://schemas.openxmlformats.org/officeDocument/2006/relationships/tableStyles" Target="/ppt/tableStyles.xml" Id="R6b4127df786d49eb" /><Relationship Type="http://schemas.openxmlformats.org/officeDocument/2006/relationships/slide" Target="/ppt/slides/slide1.xml" Id="R6f0c9344771049cd" /><Relationship Type="http://schemas.openxmlformats.org/officeDocument/2006/relationships/slide" Target="/ppt/slides/slide2.xml" Id="Rade8062613f64c50" /><Relationship Type="http://schemas.openxmlformats.org/officeDocument/2006/relationships/slide" Target="/ppt/slides/slide3.xml" Id="R8cdb4152dff94750" /><Relationship Type="http://schemas.openxmlformats.org/officeDocument/2006/relationships/slide" Target="/ppt/slides/slide4.xml" Id="Rae2e530a04cc4a92" /><Relationship Type="http://schemas.openxmlformats.org/officeDocument/2006/relationships/slide" Target="/ppt/slides/slide5.xml" Id="R004c2183a1794c1c" /><Relationship Type="http://schemas.openxmlformats.org/officeDocument/2006/relationships/slide" Target="/ppt/slides/slide6.xml" Id="R4035d9a9a3a94beb" /><Relationship Type="http://schemas.openxmlformats.org/officeDocument/2006/relationships/slide" Target="/ppt/slides/slide7.xml" Id="R6accd3809fdf4019" /><Relationship Type="http://schemas.openxmlformats.org/officeDocument/2006/relationships/slide" Target="/ppt/slides/slide8.xml" Id="R5cd6e5c24f3b43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0faf187a51e436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db216047b049ae" /><Relationship Type="http://schemas.openxmlformats.org/officeDocument/2006/relationships/notesMaster" Target="/ppt/notesMasters/notesMaster1.xml" Id="Rcb80934ecc0e4f24" /></Relationships>
</file>

<file path=ppt/notesSlides/_rels/notesSlide2.xml.rels>&#65279;<?xml version="1.0" encoding="utf-8"?><Relationships xmlns="http://schemas.openxmlformats.org/package/2006/relationships"><Relationship Type="http://schemas.openxmlformats.org/officeDocument/2006/relationships/slide" Target="/ppt/slides/slide2.xml" Id="R1678dba10a384201" /><Relationship Type="http://schemas.openxmlformats.org/officeDocument/2006/relationships/notesMaster" Target="/ppt/notesMasters/notesMaster1.xml" Id="R12843f1103bc414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2006e873aab4f63" /><Relationship Type="http://schemas.openxmlformats.org/officeDocument/2006/relationships/notesMaster" Target="/ppt/notesMasters/notesMaster1.xml" Id="R3aeca1ec572349c0" /></Relationships>
</file>

<file path=ppt/notesSlides/_rels/notesSlide4.xml.rels>&#65279;<?xml version="1.0" encoding="utf-8"?><Relationships xmlns="http://schemas.openxmlformats.org/package/2006/relationships"><Relationship Type="http://schemas.openxmlformats.org/officeDocument/2006/relationships/slide" Target="/ppt/slides/slide4.xml" Id="R90b295d59ce04042" /><Relationship Type="http://schemas.openxmlformats.org/officeDocument/2006/relationships/notesMaster" Target="/ppt/notesMasters/notesMaster1.xml" Id="R46dc58c0bef242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3a689482794ea9" /><Relationship Type="http://schemas.openxmlformats.org/officeDocument/2006/relationships/notesMaster" Target="/ppt/notesMasters/notesMaster1.xml" Id="R98b221c122324dfc" /></Relationships>
</file>

<file path=ppt/notesSlides/_rels/notesSlide6.xml.rels>&#65279;<?xml version="1.0" encoding="utf-8"?><Relationships xmlns="http://schemas.openxmlformats.org/package/2006/relationships"><Relationship Type="http://schemas.openxmlformats.org/officeDocument/2006/relationships/slide" Target="/ppt/slides/slide6.xml" Id="R43293a4ae36f411b" /><Relationship Type="http://schemas.openxmlformats.org/officeDocument/2006/relationships/notesMaster" Target="/ppt/notesMasters/notesMaster1.xml" Id="R6e6596849ae3417a" /></Relationships>
</file>

<file path=ppt/notesSlides/_rels/notesSlide7.xml.rels>&#65279;<?xml version="1.0" encoding="utf-8"?><Relationships xmlns="http://schemas.openxmlformats.org/package/2006/relationships"><Relationship Type="http://schemas.openxmlformats.org/officeDocument/2006/relationships/slide" Target="/ppt/slides/slide7.xml" Id="R9b320069342f4d11" /><Relationship Type="http://schemas.openxmlformats.org/officeDocument/2006/relationships/notesMaster" Target="/ppt/notesMasters/notesMaster1.xml" Id="R6f72684cfe784c2d" /></Relationships>
</file>

<file path=ppt/notesSlides/_rels/notesSlide8.xml.rels>&#65279;<?xml version="1.0" encoding="utf-8"?><Relationships xmlns="http://schemas.openxmlformats.org/package/2006/relationships"><Relationship Type="http://schemas.openxmlformats.org/officeDocument/2006/relationships/slide" Target="/ppt/slides/slide8.xml" Id="Rf2d9572fea814811" /><Relationship Type="http://schemas.openxmlformats.org/officeDocument/2006/relationships/notesMaster" Target="/ppt/notesMasters/notesMaster1.xml" Id="Ree898f9b68314d5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VS Plotter by Rafael Arvelo, extension ID RafaelArvelo.vsplotter. Instructions: https://marketplace.visualstudio.com/items?itemName=RafaelArvelo.vsplotter. Open a CSV, run VSPlotter: Create Plot from file, choose DateTime for X and the three power columns for 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endParaRPr/>
          </a:p>
          <a:p xmlns:a="http://schemas.openxmlformats.org/drawingml/2006/main">
            <a:r>
              <a:t>- ../TASK.md</a:t>
            </a:r>
            <a:endParaRPr/>
          </a:p>
          <a:p xmlns:a="http://schemas.openxmlformats.org/drawingml/2006/main">
            <a:r>
              <a:t>- ../data/data_dictionary.md</a:t>
            </a:r>
            <a:endParaRPr/>
          </a:p>
          <a:p xmlns:a="http://schemas.openxmlformats.org/drawingml/2006/main">
            <a:r>
              <a:t>[/Sources]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you share work from this event or continue using the data afterwards, acknowledge the SEND team at Keele University and cite both the data repository and the associated paper. The paper is a submitted manuscript under review. See ACKNOWLEDGEMENTS.md for the full citation and wording you can adapt.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e6fc44b50d946b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83b07e9c1e4f2a" /><Relationship Type="http://schemas.openxmlformats.org/officeDocument/2006/relationships/slideLayout" Target="/ppt/slideLayouts/slideLayout1.xml" Id="R22dbf170966d4ac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dbf170966d4ac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fc5d3a6893b4b79" /><Relationship Type="http://schemas.openxmlformats.org/officeDocument/2006/relationships/image" Target="/ppt/media/image.png" Id="R3d00d0d0c2584b7f" /><Relationship Type="http://schemas.openxmlformats.org/officeDocument/2006/relationships/image" Target="/ppt/media/image2.png" Id="R8c1f052b2ce345fa" /><Relationship Type="http://schemas.openxmlformats.org/officeDocument/2006/relationships/notesSlide" Target="/ppt/notesSlides/notesSlide1.xml" Id="R10b3f97190a04e3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5d115cdbb32412f" /><Relationship Type="http://schemas.openxmlformats.org/officeDocument/2006/relationships/image" Target="/ppt/media/image3.png" Id="R8f61a5e0a3714b43" /><Relationship Type="http://schemas.openxmlformats.org/officeDocument/2006/relationships/notesSlide" Target="/ppt/notesSlides/notesSlide2.xml" Id="R8415af4f43734e4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731a45c23184012" /><Relationship Type="http://schemas.openxmlformats.org/officeDocument/2006/relationships/image" Target="/ppt/media/image4.png" Id="Ra930f5f3d02b4b90" /><Relationship Type="http://schemas.openxmlformats.org/officeDocument/2006/relationships/notesSlide" Target="/ppt/notesSlides/notesSlide3.xml" Id="R44d254b0e3a24ed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9557ac38087476f" /><Relationship Type="http://schemas.openxmlformats.org/officeDocument/2006/relationships/image" Target="/ppt/media/image5.png" Id="R365206543e5c4a55" /><Relationship Type="http://schemas.openxmlformats.org/officeDocument/2006/relationships/notesSlide" Target="/ppt/notesSlides/notesSlide4.xml" Id="R5fbafc3e6bc6450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f5995990e854b0c" /><Relationship Type="http://schemas.openxmlformats.org/officeDocument/2006/relationships/image" Target="/ppt/media/image6.png" Id="R3431611a11344c2c" /><Relationship Type="http://schemas.openxmlformats.org/officeDocument/2006/relationships/notesSlide" Target="/ppt/notesSlides/notesSlide5.xml" Id="R1901706351884c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7b28f8204414303" /><Relationship Type="http://schemas.openxmlformats.org/officeDocument/2006/relationships/image" Target="/ppt/media/image7.png" Id="R0a303fa526144be5" /><Relationship Type="http://schemas.openxmlformats.org/officeDocument/2006/relationships/notesSlide" Target="/ppt/notesSlides/notesSlide6.xml" Id="R21040ed409ad4a3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96dbfac23a540f6" /><Relationship Type="http://schemas.openxmlformats.org/officeDocument/2006/relationships/image" Target="/ppt/media/image8.png" Id="R33ecda2196fe4073" /><Relationship Type="http://schemas.openxmlformats.org/officeDocument/2006/relationships/notesSlide" Target="/ppt/notesSlides/notesSlide7.xml" Id="R3562de5a0cfe49d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69b9beec07a4ea5" /><Relationship Type="http://schemas.openxmlformats.org/officeDocument/2006/relationships/image" Target="/ppt/media/image9.png" Id="Ra60ebf68fb1e4c69" /><Relationship Type="http://schemas.openxmlformats.org/officeDocument/2006/relationships/image" Target="/ppt/media/image10.png" Id="Rae904ace24fc425e" /><Relationship Type="http://schemas.openxmlformats.org/officeDocument/2006/relationships/notesSlide" Target="/ppt/notesSlides/notesSlide8.xml" Id="R945961b5e3904f91"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cover-eyebrow">
            <a:extLst xmlns:a="http://schemas.openxmlformats.org/drawingml/2006/main">
              <a:ext uri="{FF2B5EF4-FFF2-40B4-BE49-F238E27FC236}">
                <a16:creationId xmlns:a16="http://schemas.microsoft.com/office/drawing/2014/main" id="{A1CC4825-7955-4BF3-B1B4-690D5A13703C}"/>
              </a:ext>
            </a:extLst>
          </p:cNvPr>
          <p:cNvSpPr>
            <a:spLocks xmlns:a="http://schemas.openxmlformats.org/drawingml/2006/main" noGrp="1"/>
          </p:cNvSpPr>
          <p:nvPr/>
        </p:nvSpPr>
        <p:spPr>
          <a:xfrm xmlns:a="http://schemas.openxmlformats.org/drawingml/2006/main">
            <a:off x="400050" y="400050"/>
            <a:ext cx="5715000" cy="5143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lgn="l">
              <a:buNone/>
              <a:defRPr sz="1800" b="1">
                <a:solidFill>
                  <a:srgbClr val="000000"/>
                </a:solidFill>
                <a:latin typeface="Arial"/>
                <a:ea typeface="Arial"/>
                <a:cs typeface="Arial"/>
              </a:defRPr>
            </a:pPr>
            <a:r>
              <a:t>ERA Skills School</a:t>
            </a:r>
          </a:p>
        </p:txBody>
      </p:sp>
      <p:sp>
        <p:nvSpPr>
          <p:cNvPr id="2" name="cover-title">
            <a:extLst xmlns:a="http://schemas.openxmlformats.org/drawingml/2006/main">
              <a:ext uri="{FF2B5EF4-FFF2-40B4-BE49-F238E27FC236}">
                <a16:creationId xmlns:a16="http://schemas.microsoft.com/office/drawing/2014/main" id="{48F8986E-5C02-4145-830C-93A5BB4874E5}"/>
              </a:ext>
            </a:extLst>
          </p:cNvPr>
          <p:cNvSpPr>
            <a:spLocks xmlns:a="http://schemas.openxmlformats.org/drawingml/2006/main" noGrp="1"/>
          </p:cNvSpPr>
          <p:nvPr/>
        </p:nvSpPr>
        <p:spPr>
          <a:xfrm xmlns:a="http://schemas.openxmlformats.org/drawingml/2006/main">
            <a:off x="400050" y="2133600"/>
            <a:ext cx="10668000" cy="1219200"/>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t>Keele energy challenge</a:t>
            </a:r>
          </a:p>
        </p:txBody>
      </p:sp>
      <p:sp>
        <p:nvSpPr>
          <p:cNvPr id="3" name="cover-subtitle">
            <a:extLst xmlns:a="http://schemas.openxmlformats.org/drawingml/2006/main">
              <a:ext uri="{FF2B5EF4-FFF2-40B4-BE49-F238E27FC236}">
                <a16:creationId xmlns:a16="http://schemas.microsoft.com/office/drawing/2014/main" id="{A616F3F0-20B9-4038-8E51-F0CD17EF020B}"/>
              </a:ext>
            </a:extLst>
          </p:cNvPr>
          <p:cNvSpPr>
            <a:spLocks xmlns:a="http://schemas.openxmlformats.org/drawingml/2006/main" noGrp="1"/>
          </p:cNvSpPr>
          <p:nvPr/>
        </p:nvSpPr>
        <p:spPr>
          <a:xfrm xmlns:a="http://schemas.openxmlformats.org/drawingml/2006/main">
            <a:off x="400050" y="4267200"/>
            <a:ext cx="8096250" cy="51435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100">
                <a:solidFill>
                  <a:srgbClr val="000000"/>
                </a:solidFill>
                <a:latin typeface="Arial"/>
                <a:ea typeface="Arial"/>
                <a:cs typeface="Arial"/>
              </a:defRPr>
            </a:pPr>
            <a:r>
              <a:t>SEND campus energy data | 17 September 2026</a:t>
            </a:r>
          </a:p>
        </p:txBody>
      </p:sp>
      <p:sp>
        <p:nvSpPr>
          <p:cNvPr id="5" name="repository-link">
            <a:extLst xmlns:a="http://schemas.openxmlformats.org/drawingml/2006/main">
              <a:ext uri="{FF2B5EF4-FFF2-40B4-BE49-F238E27FC236}">
                <a16:creationId xmlns:a16="http://schemas.microsoft.com/office/drawing/2014/main" id="{AAA68470-EF1B-4DDB-A7BE-23E80383D651}"/>
              </a:ext>
            </a:extLst>
          </p:cNvPr>
          <p:cNvSpPr>
            <a:spLocks xmlns:a="http://schemas.openxmlformats.org/drawingml/2006/main" noGrp="1"/>
          </p:cNvSpPr>
          <p:nvPr/>
        </p:nvSpPr>
        <p:spPr>
          <a:xfrm xmlns:a="http://schemas.openxmlformats.org/drawingml/2006/main">
            <a:off x="400050" y="4876800"/>
            <a:ext cx="11391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400" b="1">
                <a:solidFill>
                  <a:srgbClr val="000000"/>
                </a:solidFill>
              </a:defRPr>
            </a:pPr>
            <a:r>
              <a:rPr sz="2400" b="1">
                <a:solidFill>
                  <a:srgbClr val="000000"/>
                </a:solidFill>
              </a:rPr>
              <a:t>github.com/SENDatKeele/ERA-event</a:t>
            </a:r>
          </a:p>
        </p:txBody>
      </p:sp>
      <p:sp>
        <p:nvSpPr>
          <p:cNvPr id="6" name="repository-guide">
            <a:extLst xmlns:a="http://schemas.openxmlformats.org/drawingml/2006/main">
              <a:ext uri="{FF2B5EF4-FFF2-40B4-BE49-F238E27FC236}">
                <a16:creationId xmlns:a16="http://schemas.microsoft.com/office/drawing/2014/main" id="{AC98427C-1E43-4746-8BFC-AC788903C767}"/>
              </a:ext>
            </a:extLst>
          </p:cNvPr>
          <p:cNvSpPr>
            <a:spLocks xmlns:a="http://schemas.openxmlformats.org/drawingml/2006/main" noGrp="1"/>
          </p:cNvSpPr>
          <p:nvPr/>
        </p:nvSpPr>
        <p:spPr>
          <a:xfrm xmlns:a="http://schemas.openxmlformats.org/drawingml/2006/main">
            <a:off x="400050" y="5400675"/>
            <a:ext cx="113919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725" b="0">
                <a:solidFill>
                  <a:srgbClr val="000000"/>
                </a:solidFill>
              </a:defRPr>
            </a:pPr>
            <a:r>
              <a:rPr sz="1725" b="0">
                <a:solidFill>
                  <a:srgbClr val="000000"/>
                </a:solidFill>
              </a:rPr>
              <a:t>Start with README.md and TASK.md. CSV files and the data dictionary are in data/.</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3d00d0d0c2584b7f"/>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
        <p:nvSpPr>
          <p:cNvPr id="8" name="Partner logo white footer">
            <a:extLst xmlns:a="http://schemas.openxmlformats.org/drawingml/2006/main">
              <a:ext uri="{FF2B5EF4-FFF2-40B4-BE49-F238E27FC236}">
                <a16:creationId xmlns:a16="http://schemas.microsoft.com/office/drawing/2014/main" id="{3663D8B0-FC2D-464B-A880-BEA62F7C3552}"/>
              </a:ext>
            </a:extLst>
          </p:cNvPr>
          <p:cNvSpPr>
            <a:spLocks xmlns:a="http://schemas.openxmlformats.org/drawingml/2006/main" noGrp="1"/>
          </p:cNvSpPr>
          <p:nvPr/>
        </p:nvSpPr>
        <p:spPr>
          <a:xfrm xmlns:a="http://schemas.openxmlformats.org/drawingml/2006/main">
            <a:off x="0" y="6000750"/>
            <a:ext cx="12192000" cy="8572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9" name="ERA blue rule">
            <a:extLst xmlns:a="http://schemas.openxmlformats.org/drawingml/2006/main">
              <a:ext uri="{FF2B5EF4-FFF2-40B4-BE49-F238E27FC236}">
                <a16:creationId xmlns:a16="http://schemas.microsoft.com/office/drawing/2014/main" id="{CDE0F962-C3A3-431F-8EA0-E3148647E7E3}"/>
              </a:ext>
            </a:extLst>
          </p:cNvPr>
          <p:cNvSpPr>
            <a:spLocks xmlns:a="http://schemas.openxmlformats.org/drawingml/2006/main" noGrp="1"/>
          </p:cNvSpPr>
          <p:nvPr/>
        </p:nvSpPr>
        <p:spPr>
          <a:xfrm xmlns:a="http://schemas.openxmlformats.org/drawingml/2006/main">
            <a:off x="0" y="6000750"/>
            <a:ext cx="12192000" cy="19050"/>
          </a:xfrm>
          <a:prstGeom xmlns:a="http://schemas.openxmlformats.org/drawingml/2006/main" prst="rect">
            <a:avLst/>
          </a:prstGeom>
          <a:solidFill xmlns:a="http://schemas.openxmlformats.org/drawingml/2006/main">
            <a:srgbClr val="004899"/>
          </a:solidFill>
          <a:ln xmlns:a="http://schemas.openxmlformats.org/drawingml/2006/main" w="0">
            <a:noFill/>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8c1f052b2ce345fa"/>
          <a:srcRect xmlns:a="http://schemas.openxmlformats.org/drawingml/2006/main" l="0" t="39598" r="0" b="0"/>
          <a:stretch xmlns:a="http://schemas.openxmlformats.org/drawingml/2006/main">
            <a:fillRect l="0" t="0" r="0" b="0"/>
          </a:stretch>
        </p:blipFill>
        <p:spPr>
          <a:xfrm xmlns:a="http://schemas.openxmlformats.org/drawingml/2006/main">
            <a:off x="619125" y="6038850"/>
            <a:ext cx="10953750" cy="811857"/>
          </a:xfrm>
          <a:prstGeom xmlns:a="http://schemas.openxmlformats.org/drawingml/2006/main" prst="rect">
            <a:avLst/>
          </a:prstGeom>
        </p:spPr>
      </p:pic>
    </p:spTree>
    <p:extLst>
      <p:ext uri="{BB962C8B-B14F-4D97-AF65-F5344CB8AC3E}">
        <p14:creationId xmlns:p14="http://schemas.microsoft.com/office/powerpoint/2010/main" val="207799576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cover-eyebrow">
            <a:extLst xmlns:a="http://schemas.openxmlformats.org/drawingml/2006/main">
              <a:ext uri="{FF2B5EF4-FFF2-40B4-BE49-F238E27FC236}">
                <a16:creationId xmlns:a16="http://schemas.microsoft.com/office/drawing/2014/main" id="{A1CC4825-7955-4BF3-B1B4-690D5A13703C}"/>
              </a:ext>
            </a:extLst>
          </p:cNvPr>
          <p:cNvSpPr>
            <a:spLocks xmlns:a="http://schemas.openxmlformats.org/drawingml/2006/main" noGrp="1"/>
          </p:cNvSpPr>
          <p:nvPr/>
        </p:nvSpPr>
        <p:spPr>
          <a:xfrm xmlns:a="http://schemas.openxmlformats.org/drawingml/2006/main">
            <a:off x="400050" y="400050"/>
            <a:ext cx="5715000" cy="514350"/>
          </a:xfrm>
          <a:prstGeom xmlns:a="http://schemas.openxmlformats.org/drawingml/2006/main" prst="rect">
            <a:avLst/>
          </a:prstGeom>
        </p:spPr>
        <p:txBody>
          <a:bodyPr xmlns:a="http://schemas.openxmlformats.org/drawingml/2006/main" lIns="0" tIns="0" rIns="0" bIns="0"/>
          <a:lstStyle xmlns:a="http://schemas.openxmlformats.org/drawingml/2006/main"/>
          <a:p xmlns:a="http://schemas.openxmlformats.org/drawingml/2006/main">
            <a:pPr algn="l">
              <a:buNone/>
              <a:defRPr sz="1800" b="1">
                <a:solidFill>
                  <a:srgbClr val="000000"/>
                </a:solidFill>
                <a:latin typeface="Arial"/>
                <a:ea typeface="Arial"/>
                <a:cs typeface="Arial"/>
              </a:defRPr>
            </a:pPr>
            <a:r>
              <a:t>Main question</a:t>
            </a:r>
          </a:p>
        </p:txBody>
      </p:sp>
      <p:sp>
        <p:nvSpPr>
          <p:cNvPr id="2" name="cover-title">
            <a:extLst xmlns:a="http://schemas.openxmlformats.org/drawingml/2006/main">
              <a:ext uri="{FF2B5EF4-FFF2-40B4-BE49-F238E27FC236}">
                <a16:creationId xmlns:a16="http://schemas.microsoft.com/office/drawing/2014/main" id="{48F8986E-5C02-4145-830C-93A5BB4874E5}"/>
              </a:ext>
            </a:extLst>
          </p:cNvPr>
          <p:cNvSpPr>
            <a:spLocks xmlns:a="http://schemas.openxmlformats.org/drawingml/2006/main" noGrp="1"/>
          </p:cNvSpPr>
          <p:nvPr/>
        </p:nvSpPr>
        <p:spPr>
          <a:xfrm xmlns:a="http://schemas.openxmlformats.org/drawingml/2006/main">
            <a:off x="400050" y="2133600"/>
            <a:ext cx="10668000" cy="1219200"/>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t>When does generation exceed demand?</a:t>
            </a:r>
          </a:p>
        </p:txBody>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8f61a5e0a3714b43"/>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207799576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data-title">
            <a:extLst xmlns:a="http://schemas.openxmlformats.org/drawingml/2006/main">
              <a:ext uri="{FF2B5EF4-FFF2-40B4-BE49-F238E27FC236}">
                <a16:creationId xmlns:a16="http://schemas.microsoft.com/office/drawing/2014/main" id="{230C7CD0-3079-48D2-BD87-ABA225F1593D}"/>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The dataset</a:t>
            </a:r>
            <a:endParaRPr/>
          </a:p>
        </p:txBody>
      </p:sp>
      <p:sp>
        <p:nvSpPr>
          <p:cNvPr id="2" name="data-summary">
            <a:extLst xmlns:a="http://schemas.openxmlformats.org/drawingml/2006/main">
              <a:ext uri="{FF2B5EF4-FFF2-40B4-BE49-F238E27FC236}">
                <a16:creationId xmlns:a16="http://schemas.microsoft.com/office/drawing/2014/main" id="{E1196E17-F51D-4F6C-8146-F784BB94C4E6}"/>
              </a:ext>
            </a:extLst>
          </p:cNvPr>
          <p:cNvSpPr>
            <a:spLocks xmlns:a="http://schemas.openxmlformats.org/drawingml/2006/main" noGrp="1"/>
          </p:cNvSpPr>
          <p:nvPr/>
        </p:nvSpPr>
        <p:spPr>
          <a:xfrm xmlns:a="http://schemas.openxmlformats.org/drawingml/2006/main">
            <a:off x="400050" y="1162050"/>
            <a:ext cx="11391900" cy="5715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800">
                <a:solidFill>
                  <a:srgbClr val="000000"/>
                </a:solidFill>
                <a:latin typeface="Arial"/>
                <a:ea typeface="Arial"/>
                <a:cs typeface="Arial"/>
              </a:defRPr>
            </a:pPr>
            <a:r>
              <a:t>Three annual CSV files cover 2023, 2024 and 2025. Each row covers five minutes.</a:t>
            </a:r>
          </a:p>
        </p:txBody>
      </p:sp>
      <p:sp>
        <p:nvSpPr>
          <p:cNvPr id="3" name="data-provenance">
            <a:extLst xmlns:a="http://schemas.openxmlformats.org/drawingml/2006/main">
              <a:ext uri="{FF2B5EF4-FFF2-40B4-BE49-F238E27FC236}">
                <a16:creationId xmlns:a16="http://schemas.microsoft.com/office/drawing/2014/main" id="{7F302E83-D826-4E3E-B1F3-FC5FFA3270B5}"/>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350">
                <a:solidFill>
                  <a:srgbClr val="000000"/>
                </a:solidFill>
                <a:latin typeface="Arial"/>
                <a:ea typeface="Arial"/>
                <a:cs typeface="Arial"/>
              </a:defRPr>
            </a:pPr>
            <a:r>
              <a:t>2023 is reviewed and repaired. 2024 and 2025 are reconstructed. Compare years with care.</a:t>
            </a:r>
          </a:p>
        </p:txBody>
      </p:sp>
      <p:graphicFrame>
        <p:nvGraphicFramePr>
          <p:cNvPr id="12" name="Table 8"/>
          <p:cNvGraphicFramePr/>
          <p:nvPr/>
        </p:nvGraphicFramePr>
        <p:xfrm>
          <a:off xmlns:a="http://schemas.openxmlformats.org/drawingml/2006/main" x="400050" y="2047875"/>
          <a:ext xmlns:a="http://schemas.openxmlformats.org/drawingml/2006/main" cx="11391900" cy="3429000"/>
        </p:xfrm>
        <a:graphic xmlns:a="http://schemas.openxmlformats.org/drawingml/2006/main">
          <a:graphicData uri="http://schemas.openxmlformats.org/drawingml/2006/table">
            <a:tbl>
              <a:tblPr/>
              <a:tblGrid>
                <a:gridCol w="3143250"/>
                <a:gridCol w="6667500"/>
                <a:gridCol w="1581150"/>
              </a:tblGrid>
              <a:tr h="685800">
                <a:tc>
                  <a:txBody>
                    <a:bodyPr/>
                    <a:lstStyle/>
                    <a:p>
                      <a:r>
                        <a:rPr sz="1650" b="1">
                          <a:solidFill>
                            <a:srgbClr val="000000"/>
                          </a:solidFill>
                        </a:rPr>
                        <a:t>Column</a:t>
                      </a:r>
                    </a:p>
                  </a:txBody>
                  <a:tcPr marL="91440" marR="91440" marT="45720" marB="45720">
                    <a:solidFill>
                      <a:srgbClr val="D0EDFA"/>
                    </a:solidFill>
                  </a:tcPr>
                </a:tc>
                <a:tc>
                  <a:txBody>
                    <a:bodyPr/>
                    <a:lstStyle/>
                    <a:p>
                      <a:r>
                        <a:rPr sz="1650" b="1">
                          <a:solidFill>
                            <a:srgbClr val="000000"/>
                          </a:solidFill>
                        </a:rPr>
                        <a:t>Plain meaning</a:t>
                      </a:r>
                    </a:p>
                  </a:txBody>
                  <a:tcPr marL="91440" marR="91440" marT="45720" marB="45720">
                    <a:solidFill>
                      <a:srgbClr val="D0EDFA"/>
                    </a:solidFill>
                  </a:tcPr>
                </a:tc>
                <a:tc>
                  <a:txBody>
                    <a:bodyPr/>
                    <a:lstStyle/>
                    <a:p>
                      <a:r>
                        <a:rPr sz="1650" b="1">
                          <a:solidFill>
                            <a:srgbClr val="000000"/>
                          </a:solidFill>
                        </a:rPr>
                        <a:t>Unit</a:t>
                      </a:r>
                    </a:p>
                  </a:txBody>
                  <a:tcPr marL="91440" marR="91440" marT="45720" marB="45720">
                    <a:solidFill>
                      <a:srgbClr val="D0EDFA"/>
                    </a:solidFill>
                  </a:tcPr>
                </a:tc>
              </a:tr>
              <a:tr h="685800">
                <a:tc>
                  <a:txBody>
                    <a:bodyPr/>
                    <a:lstStyle/>
                    <a:p>
                      <a:r>
                        <a:rPr sz="1650">
                          <a:solidFill>
                            <a:srgbClr val="000000"/>
                          </a:solidFill>
                        </a:rPr>
                        <a:t>DateTime</a:t>
                      </a:r>
                    </a:p>
                  </a:txBody>
                  <a:tcPr marL="91440" marR="91440" marT="45720" marB="45720">
                    <a:solidFill>
                      <a:srgbClr val="FFFFFF"/>
                    </a:solidFill>
                  </a:tcPr>
                </a:tc>
                <a:tc>
                  <a:txBody>
                    <a:bodyPr/>
                    <a:lstStyle/>
                    <a:p>
                      <a:r>
                        <a:rPr sz="1650">
                          <a:solidFill>
                            <a:srgbClr val="000000"/>
                          </a:solidFill>
                        </a:rPr>
                        <a:t>Date and time</a:t>
                      </a:r>
                    </a:p>
                  </a:txBody>
                  <a:tcPr marL="91440" marR="91440" marT="45720" marB="45720">
                    <a:solidFill>
                      <a:srgbClr val="FFFFFF"/>
                    </a:solidFill>
                  </a:tcPr>
                </a:tc>
                <a:tc>
                  <a:txBody>
                    <a:bodyPr/>
                    <a:lstStyle/>
                    <a:p>
                      <a:r>
                        <a:t>Date/time</a:t>
                      </a:r>
                      <a:endParaRPr/>
                    </a:p>
                  </a:txBody>
                  <a:tcPr marL="91440" marR="91440" marT="45720" marB="45720">
                    <a:solidFill>
                      <a:srgbClr val="FFFFFF"/>
                    </a:solidFill>
                  </a:tcPr>
                </a:tc>
              </a:tr>
              <a:tr h="685800">
                <a:tc>
                  <a:txBody>
                    <a:bodyPr/>
                    <a:lstStyle/>
                    <a:p>
                      <a:r>
                        <a:rPr sz="1650">
                          <a:solidFill>
                            <a:srgbClr val="000000"/>
                          </a:solidFill>
                        </a:rPr>
                        <a:t>power-con-ave</a:t>
                      </a:r>
                    </a:p>
                  </a:txBody>
                  <a:tcPr marL="91440" marR="91440" marT="45720" marB="45720">
                    <a:solidFill>
                      <a:srgbClr val="EDEDED"/>
                    </a:solidFill>
                  </a:tcPr>
                </a:tc>
                <a:tc>
                  <a:txBody>
                    <a:bodyPr/>
                    <a:lstStyle/>
                    <a:p>
                      <a:r>
                        <a:rPr sz="1650">
                          <a:solidFill>
                            <a:srgbClr val="000000"/>
                          </a:solidFill>
                        </a:rPr>
                        <a:t>Campus electricity consumption</a:t>
                      </a:r>
                    </a:p>
                  </a:txBody>
                  <a:tcPr marL="91440" marR="91440" marT="45720" marB="45720">
                    <a:solidFill>
                      <a:srgbClr val="EDEDED"/>
                    </a:solidFill>
                  </a:tcPr>
                </a:tc>
                <a:tc>
                  <a:txBody>
                    <a:bodyPr/>
                    <a:lstStyle/>
                    <a:p>
                      <a:r>
                        <a:rPr sz="1650">
                          <a:solidFill>
                            <a:srgbClr val="000000"/>
                          </a:solidFill>
                        </a:rPr>
                        <a:t>kW</a:t>
                      </a:r>
                    </a:p>
                  </a:txBody>
                  <a:tcPr marL="91440" marR="91440" marT="45720" marB="45720">
                    <a:solidFill>
                      <a:srgbClr val="EDEDED"/>
                    </a:solidFill>
                  </a:tcPr>
                </a:tc>
              </a:tr>
              <a:tr h="685800">
                <a:tc>
                  <a:txBody>
                    <a:bodyPr/>
                    <a:lstStyle/>
                    <a:p>
                      <a:r>
                        <a:rPr sz="1650">
                          <a:solidFill>
                            <a:srgbClr val="000000"/>
                          </a:solidFill>
                        </a:rPr>
                        <a:t>power-gen-wt-ave</a:t>
                      </a:r>
                    </a:p>
                  </a:txBody>
                  <a:tcPr marL="91440" marR="91440" marT="45720" marB="45720">
                    <a:solidFill>
                      <a:srgbClr val="FFFFFF"/>
                    </a:solidFill>
                  </a:tcPr>
                </a:tc>
                <a:tc>
                  <a:txBody>
                    <a:bodyPr/>
                    <a:lstStyle/>
                    <a:p>
                      <a:r>
                        <a:rPr sz="1650">
                          <a:solidFill>
                            <a:srgbClr val="000000"/>
                          </a:solidFill>
                        </a:rPr>
                        <a:t>Wind-turbine generation</a:t>
                      </a:r>
                    </a:p>
                  </a:txBody>
                  <a:tcPr marL="91440" marR="91440" marT="45720" marB="45720">
                    <a:solidFill>
                      <a:srgbClr val="FFFFFF"/>
                    </a:solidFill>
                  </a:tcPr>
                </a:tc>
                <a:tc>
                  <a:txBody>
                    <a:bodyPr/>
                    <a:lstStyle/>
                    <a:p>
                      <a:r>
                        <a:rPr sz="1650">
                          <a:solidFill>
                            <a:srgbClr val="000000"/>
                          </a:solidFill>
                        </a:rPr>
                        <a:t>kW</a:t>
                      </a:r>
                    </a:p>
                  </a:txBody>
                  <a:tcPr marL="91440" marR="91440" marT="45720" marB="45720">
                    <a:solidFill>
                      <a:srgbClr val="FFFFFF"/>
                    </a:solidFill>
                  </a:tcPr>
                </a:tc>
              </a:tr>
              <a:tr h="685800">
                <a:tc>
                  <a:txBody>
                    <a:bodyPr/>
                    <a:lstStyle/>
                    <a:p>
                      <a:r>
                        <a:rPr sz="1650">
                          <a:solidFill>
                            <a:srgbClr val="000000"/>
                          </a:solidFill>
                        </a:rPr>
                        <a:t>power-gen-pv-ave</a:t>
                      </a:r>
                    </a:p>
                  </a:txBody>
                  <a:tcPr marL="91440" marR="91440" marT="45720" marB="45720">
                    <a:solidFill>
                      <a:srgbClr val="EDEDED"/>
                    </a:solidFill>
                  </a:tcPr>
                </a:tc>
                <a:tc>
                  <a:txBody>
                    <a:bodyPr/>
                    <a:lstStyle/>
                    <a:p>
                      <a:r>
                        <a:rPr sz="1650">
                          <a:solidFill>
                            <a:srgbClr val="000000"/>
                          </a:solidFill>
                        </a:rPr>
                        <a:t>Solar generation</a:t>
                      </a:r>
                    </a:p>
                  </a:txBody>
                  <a:tcPr marL="91440" marR="91440" marT="45720" marB="45720">
                    <a:solidFill>
                      <a:srgbClr val="EDEDED"/>
                    </a:solidFill>
                  </a:tcPr>
                </a:tc>
                <a:tc>
                  <a:txBody>
                    <a:bodyPr/>
                    <a:lstStyle/>
                    <a:p>
                      <a:r>
                        <a:rPr sz="1650">
                          <a:solidFill>
                            <a:srgbClr val="000000"/>
                          </a:solidFill>
                        </a:rPr>
                        <a:t>kW</a:t>
                      </a:r>
                    </a:p>
                  </a:txBody>
                  <a:tcPr marL="91440" marR="91440" marT="45720" marB="45720">
                    <a:solidFill>
                      <a:srgbClr val="EDEDED"/>
                    </a:solidFill>
                  </a:tcPr>
                </a:tc>
              </a:tr>
            </a:tbl>
          </a:graphicData>
        </a:graphic>
      </p:graphicFrame>
      <p:sp>
        <p:nvSpPr>
          <p:cNvPr id="5" name="slide-2-number-text">
            <a:extLst xmlns:a="http://schemas.openxmlformats.org/drawingml/2006/main">
              <a:ext uri="{FF2B5EF4-FFF2-40B4-BE49-F238E27FC236}">
                <a16:creationId xmlns:a16="http://schemas.microsoft.com/office/drawing/2014/main" id="{49940877-A1AF-4AAE-850C-7BF0F6200DF6}"/>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3</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930f5f3d02b4b90"/>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124320430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data-title">
            <a:extLst xmlns:a="http://schemas.openxmlformats.org/drawingml/2006/main">
              <a:ext uri="{FF2B5EF4-FFF2-40B4-BE49-F238E27FC236}">
                <a16:creationId xmlns:a16="http://schemas.microsoft.com/office/drawing/2014/main" id="{230C7CD0-3079-48D2-BD87-ABA225F1593D}"/>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Power and energy</a:t>
            </a:r>
            <a:endParaRPr/>
          </a:p>
        </p:txBody>
      </p:sp>
      <p:sp>
        <p:nvSpPr>
          <p:cNvPr id="2" name="data-summary">
            <a:extLst xmlns:a="http://schemas.openxmlformats.org/drawingml/2006/main">
              <a:ext uri="{FF2B5EF4-FFF2-40B4-BE49-F238E27FC236}">
                <a16:creationId xmlns:a16="http://schemas.microsoft.com/office/drawing/2014/main" id="{E1196E17-F51D-4F6C-8146-F784BB94C4E6}"/>
              </a:ext>
            </a:extLst>
          </p:cNvPr>
          <p:cNvSpPr>
            <a:spLocks xmlns:a="http://schemas.openxmlformats.org/drawingml/2006/main" noGrp="1"/>
          </p:cNvSpPr>
          <p:nvPr/>
        </p:nvSpPr>
        <p:spPr>
          <a:xfrm xmlns:a="http://schemas.openxmlformats.org/drawingml/2006/main">
            <a:off x="400050" y="1162050"/>
            <a:ext cx="11391900" cy="5715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800">
                <a:solidFill>
                  <a:srgbClr val="000000"/>
                </a:solidFill>
                <a:latin typeface="Arial"/>
                <a:ea typeface="Arial"/>
                <a:cs typeface="Arial"/>
              </a:defRPr>
            </a:pPr>
            <a:r>
              <a:t>Each row is a five-minute average power reading. Energy accumulates over time.</a:t>
            </a:r>
          </a:p>
        </p:txBody>
      </p:sp>
      <p:sp>
        <p:nvSpPr>
          <p:cNvPr id="3" name="data-provenance">
            <a:extLst xmlns:a="http://schemas.openxmlformats.org/drawingml/2006/main">
              <a:ext uri="{FF2B5EF4-FFF2-40B4-BE49-F238E27FC236}">
                <a16:creationId xmlns:a16="http://schemas.microsoft.com/office/drawing/2014/main" id="{7F302E83-D826-4E3E-B1F3-FC5FFA3270B5}"/>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350">
                <a:solidFill>
                  <a:srgbClr val="000000"/>
                </a:solidFill>
                <a:latin typeface="Arial"/>
                <a:ea typeface="Arial"/>
                <a:cs typeface="Arial"/>
              </a:defRPr>
            </a:pPr>
            <a:r>
              <a:t>For five-minute data: energy in MWh = sum of kW readings / 12,000.</a:t>
            </a:r>
          </a:p>
        </p:txBody>
      </p:sp>
      <p:graphicFrame>
        <p:nvGraphicFramePr>
          <p:cNvPr id="12" name="Table 8"/>
          <p:cNvGraphicFramePr/>
          <p:nvPr/>
        </p:nvGraphicFramePr>
        <p:xfrm>
          <a:off xmlns:a="http://schemas.openxmlformats.org/drawingml/2006/main" x="400050" y="2047875"/>
          <a:ext xmlns:a="http://schemas.openxmlformats.org/drawingml/2006/main" cx="11391900" cy="3429000"/>
        </p:xfrm>
        <a:graphic xmlns:a="http://schemas.openxmlformats.org/drawingml/2006/main">
          <a:graphicData uri="http://schemas.openxmlformats.org/drawingml/2006/table">
            <a:tbl>
              <a:tblPr/>
              <a:tblGrid>
                <a:gridCol w="3143250"/>
                <a:gridCol w="6667500"/>
                <a:gridCol w="1581150"/>
              </a:tblGrid>
              <a:tr h="685800">
                <a:tc>
                  <a:txBody>
                    <a:bodyPr/>
                    <a:lstStyle/>
                    <a:p>
                      <a:r>
                        <a:rPr sz="1650" b="1">
                          <a:solidFill>
                            <a:srgbClr val="000000"/>
                          </a:solidFill>
                        </a:rPr>
                        <a:t>Measure</a:t>
                      </a:r>
                    </a:p>
                  </a:txBody>
                  <a:tcPr marL="91440" marR="91440" marT="45720" marB="45720">
                    <a:solidFill>
                      <a:srgbClr val="D0EDFA"/>
                    </a:solidFill>
                  </a:tcPr>
                </a:tc>
                <a:tc>
                  <a:txBody>
                    <a:bodyPr/>
                    <a:lstStyle/>
                    <a:p>
                      <a:r>
                        <a:rPr sz="1650" b="1">
                          <a:solidFill>
                            <a:srgbClr val="000000"/>
                          </a:solidFill>
                        </a:rPr>
                        <a:t>Plain meaning</a:t>
                      </a:r>
                    </a:p>
                  </a:txBody>
                  <a:tcPr marL="91440" marR="91440" marT="45720" marB="45720">
                    <a:solidFill>
                      <a:srgbClr val="D0EDFA"/>
                    </a:solidFill>
                  </a:tcPr>
                </a:tc>
                <a:tc>
                  <a:txBody>
                    <a:bodyPr/>
                    <a:lstStyle/>
                    <a:p>
                      <a:r>
                        <a:rPr sz="1650" b="1">
                          <a:solidFill>
                            <a:srgbClr val="000000"/>
                          </a:solidFill>
                        </a:rPr>
                        <a:t>Unit</a:t>
                      </a:r>
                    </a:p>
                  </a:txBody>
                  <a:tcPr marL="91440" marR="91440" marT="45720" marB="45720">
                    <a:solidFill>
                      <a:srgbClr val="D0EDFA"/>
                    </a:solidFill>
                  </a:tcPr>
                </a:tc>
              </a:tr>
              <a:tr h="685800">
                <a:tc>
                  <a:txBody>
                    <a:bodyPr/>
                    <a:lstStyle/>
                    <a:p>
                      <a:r>
                        <a:rPr sz="1650">
                          <a:solidFill>
                            <a:srgbClr val="000000"/>
                          </a:solidFill>
                        </a:rPr>
                        <a:t>Power</a:t>
                      </a:r>
                    </a:p>
                  </a:txBody>
                  <a:tcPr marL="91440" marR="91440" marT="45720" marB="45720">
                    <a:solidFill>
                      <a:srgbClr val="FFFFFF"/>
                    </a:solidFill>
                  </a:tcPr>
                </a:tc>
                <a:tc>
                  <a:txBody>
                    <a:bodyPr/>
                    <a:lstStyle/>
                    <a:p>
                      <a:r>
                        <a:rPr sz="1650">
                          <a:solidFill>
                            <a:srgbClr val="000000"/>
                          </a:solidFill>
                        </a:rPr>
                        <a:t>Rate of electricity use or generation</a:t>
                      </a:r>
                    </a:p>
                  </a:txBody>
                  <a:tcPr marL="91440" marR="91440" marT="45720" marB="45720">
                    <a:solidFill>
                      <a:srgbClr val="FFFFFF"/>
                    </a:solidFill>
                  </a:tcPr>
                </a:tc>
                <a:tc>
                  <a:txBody>
                    <a:bodyPr/>
                    <a:lstStyle/>
                    <a:p>
                      <a:r>
                        <a:t>kW</a:t>
                      </a:r>
                      <a:endParaRPr/>
                    </a:p>
                  </a:txBody>
                  <a:tcPr marL="91440" marR="91440" marT="45720" marB="45720">
                    <a:solidFill>
                      <a:srgbClr val="FFFFFF"/>
                    </a:solidFill>
                  </a:tcPr>
                </a:tc>
              </a:tr>
              <a:tr h="685800">
                <a:tc>
                  <a:txBody>
                    <a:bodyPr/>
                    <a:lstStyle/>
                    <a:p>
                      <a:r>
                        <a:rPr sz="1650">
                          <a:solidFill>
                            <a:srgbClr val="000000"/>
                          </a:solidFill>
                        </a:rPr>
                        <a:t>Energy</a:t>
                      </a:r>
                    </a:p>
                  </a:txBody>
                  <a:tcPr marL="91440" marR="91440" marT="45720" marB="45720">
                    <a:solidFill>
                      <a:srgbClr val="EDEDED"/>
                    </a:solidFill>
                  </a:tcPr>
                </a:tc>
                <a:tc>
                  <a:txBody>
                    <a:bodyPr/>
                    <a:lstStyle/>
                    <a:p>
                      <a:r>
                        <a:rPr sz="1650">
                          <a:solidFill>
                            <a:srgbClr val="000000"/>
                          </a:solidFill>
                        </a:rPr>
                        <a:t>Power accumulated over time</a:t>
                      </a:r>
                    </a:p>
                  </a:txBody>
                  <a:tcPr marL="91440" marR="91440" marT="45720" marB="45720">
                    <a:solidFill>
                      <a:srgbClr val="EDEDED"/>
                    </a:solidFill>
                  </a:tcPr>
                </a:tc>
                <a:tc>
                  <a:txBody>
                    <a:bodyPr/>
                    <a:lstStyle/>
                    <a:p>
                      <a:r>
                        <a:rPr sz="1650">
                          <a:solidFill>
                            <a:srgbClr val="000000"/>
                          </a:solidFill>
                        </a:rPr>
                        <a:t>MWh</a:t>
                      </a:r>
                    </a:p>
                  </a:txBody>
                  <a:tcPr marL="91440" marR="91440" marT="45720" marB="45720">
                    <a:solidFill>
                      <a:srgbClr val="EDEDED"/>
                    </a:solidFill>
                  </a:tcPr>
                </a:tc>
              </a:tr>
              <a:tr h="685800">
                <a:tc>
                  <a:txBody>
                    <a:bodyPr/>
                    <a:lstStyle/>
                    <a:p>
                      <a:r>
                        <a:rPr sz="1650">
                          <a:solidFill>
                            <a:srgbClr val="000000"/>
                          </a:solidFill>
                        </a:rPr>
                        <a:t>Balance</a:t>
                      </a:r>
                    </a:p>
                  </a:txBody>
                  <a:tcPr marL="91440" marR="91440" marT="45720" marB="45720">
                    <a:solidFill>
                      <a:srgbClr val="FFFFFF"/>
                    </a:solidFill>
                  </a:tcPr>
                </a:tc>
                <a:tc>
                  <a:txBody>
                    <a:bodyPr/>
                    <a:lstStyle/>
                    <a:p>
                      <a:r>
                        <a:rPr sz="1650">
                          <a:solidFill>
                            <a:srgbClr val="000000"/>
                          </a:solidFill>
                        </a:rPr>
                        <a:t>Generation minus consumption</a:t>
                      </a:r>
                    </a:p>
                  </a:txBody>
                  <a:tcPr marL="91440" marR="91440" marT="45720" marB="45720">
                    <a:solidFill>
                      <a:srgbClr val="FFFFFF"/>
                    </a:solidFill>
                  </a:tcPr>
                </a:tc>
                <a:tc>
                  <a:txBody>
                    <a:bodyPr/>
                    <a:lstStyle/>
                    <a:p>
                      <a:r>
                        <a:rPr sz="1650">
                          <a:solidFill>
                            <a:srgbClr val="000000"/>
                          </a:solidFill>
                        </a:rPr>
                        <a:t>kW</a:t>
                      </a:r>
                    </a:p>
                  </a:txBody>
                  <a:tcPr marL="91440" marR="91440" marT="45720" marB="45720">
                    <a:solidFill>
                      <a:srgbClr val="FFFFFF"/>
                    </a:solidFill>
                  </a:tcPr>
                </a:tc>
              </a:tr>
              <a:tr h="685800">
                <a:tc>
                  <a:txBody>
                    <a:bodyPr/>
                    <a:lstStyle/>
                    <a:p>
                      <a:r>
                        <a:rPr sz="1650">
                          <a:solidFill>
                            <a:srgbClr val="000000"/>
                          </a:solidFill>
                        </a:rPr>
                        <a:t>Excess</a:t>
                      </a:r>
                    </a:p>
                  </a:txBody>
                  <a:tcPr marL="91440" marR="91440" marT="45720" marB="45720">
                    <a:solidFill>
                      <a:srgbClr val="EDEDED"/>
                    </a:solidFill>
                  </a:tcPr>
                </a:tc>
                <a:tc>
                  <a:txBody>
                    <a:bodyPr/>
                    <a:lstStyle/>
                    <a:p>
                      <a:r>
                        <a:rPr sz="1650">
                          <a:solidFill>
                            <a:srgbClr val="000000"/>
                          </a:solidFill>
                        </a:rPr>
                        <a:t>The positive part of the balance</a:t>
                      </a:r>
                    </a:p>
                  </a:txBody>
                  <a:tcPr marL="91440" marR="91440" marT="45720" marB="45720">
                    <a:solidFill>
                      <a:srgbClr val="EDEDED"/>
                    </a:solidFill>
                  </a:tcPr>
                </a:tc>
                <a:tc>
                  <a:txBody>
                    <a:bodyPr/>
                    <a:lstStyle/>
                    <a:p>
                      <a:r>
                        <a:rPr sz="1650">
                          <a:solidFill>
                            <a:srgbClr val="000000"/>
                          </a:solidFill>
                        </a:rPr>
                        <a:t>kW</a:t>
                      </a:r>
                    </a:p>
                  </a:txBody>
                  <a:tcPr marL="91440" marR="91440" marT="45720" marB="45720">
                    <a:solidFill>
                      <a:srgbClr val="EDEDED"/>
                    </a:solidFill>
                  </a:tcPr>
                </a:tc>
              </a:tr>
            </a:tbl>
          </a:graphicData>
        </a:graphic>
      </p:graphicFrame>
      <p:sp>
        <p:nvSpPr>
          <p:cNvPr id="5" name="slide-2-number-text">
            <a:extLst xmlns:a="http://schemas.openxmlformats.org/drawingml/2006/main">
              <a:ext uri="{FF2B5EF4-FFF2-40B4-BE49-F238E27FC236}">
                <a16:creationId xmlns:a16="http://schemas.microsoft.com/office/drawing/2014/main" id="{49940877-A1AF-4AAE-850C-7BF0F6200DF6}"/>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4</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365206543e5c4a55"/>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124320430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ask-title">
            <a:extLst xmlns:a="http://schemas.openxmlformats.org/drawingml/2006/main">
              <a:ext uri="{FF2B5EF4-FFF2-40B4-BE49-F238E27FC236}">
                <a16:creationId xmlns:a16="http://schemas.microsoft.com/office/drawing/2014/main" id="{B48C8150-5E13-4F7E-8EB0-4777CD11A163}"/>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Data exploration</a:t>
            </a:r>
          </a:p>
        </p:txBody>
      </p:sp>
      <p:sp>
        <p:nvSpPr>
          <p:cNvPr id="3" name="task-output">
            <a:extLst xmlns:a="http://schemas.openxmlformats.org/drawingml/2006/main">
              <a:ext uri="{FF2B5EF4-FFF2-40B4-BE49-F238E27FC236}">
                <a16:creationId xmlns:a16="http://schemas.microsoft.com/office/drawing/2014/main" id="{7D38F6A7-9D28-4CBC-8B69-75F7E9E9A1BA}"/>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500" b="1">
                <a:solidFill>
                  <a:srgbClr val="000000"/>
                </a:solidFill>
                <a:latin typeface="Arial"/>
                <a:ea typeface="Arial"/>
                <a:cs typeface="Arial"/>
              </a:defRPr>
            </a:pPr>
            <a:r>
              <a:t>Use VS Plotter by Rafael Arvelo. No coding needed. Steps are in TASK.md.</a:t>
            </a:r>
          </a:p>
        </p:txBody>
      </p:sp>
      <p:graphicFrame>
        <p:nvGraphicFramePr>
          <p:cNvPr id="11" name="Table 8"/>
          <p:cNvGraphicFramePr/>
          <p:nvPr/>
        </p:nvGraphicFramePr>
        <p:xfrm>
          <a:off xmlns:a="http://schemas.openxmlformats.org/drawingml/2006/main" x="400050" y="2000250"/>
          <a:ext xmlns:a="http://schemas.openxmlformats.org/drawingml/2006/main" cx="11391900" cy="3238500"/>
        </p:xfrm>
        <a:graphic xmlns:a="http://schemas.openxmlformats.org/drawingml/2006/main">
          <a:graphicData uri="http://schemas.openxmlformats.org/drawingml/2006/table">
            <a:tbl>
              <a:tblPr/>
              <a:tblGrid>
                <a:gridCol w="1047750"/>
                <a:gridCol w="10344150"/>
              </a:tblGrid>
              <a:tr h="809625">
                <a:tc>
                  <a:txBody>
                    <a:bodyPr/>
                    <a:lstStyle/>
                    <a:p>
                      <a:r>
                        <a:rPr sz="1650" b="1">
                          <a:solidFill>
                            <a:srgbClr val="000000"/>
                          </a:solidFill>
                        </a:rPr>
                        <a:t>01</a:t>
                      </a:r>
                    </a:p>
                  </a:txBody>
                  <a:tcPr marL="91440" marR="91440" marT="45720" marB="45720">
                    <a:solidFill>
                      <a:srgbClr val="EDEDED"/>
                    </a:solidFill>
                  </a:tcPr>
                </a:tc>
                <a:tc>
                  <a:txBody>
                    <a:bodyPr/>
                    <a:lstStyle/>
                    <a:p>
                      <a:r>
                        <a:rPr sz="1650">
                          <a:solidFill>
                            <a:srgbClr val="000000"/>
                          </a:solidFill>
                        </a:rPr>
                        <a:t>Open one annual CSV. Check the columns, units and dates.</a:t>
                      </a:r>
                    </a:p>
                  </a:txBody>
                  <a:tcPr marL="91440" marR="91440" marT="45720" marB="45720">
                    <a:solidFill>
                      <a:srgbClr val="EDEDED"/>
                    </a:solidFill>
                  </a:tcPr>
                </a:tc>
              </a:tr>
              <a:tr h="809625">
                <a:tc>
                  <a:txBody>
                    <a:bodyPr/>
                    <a:lstStyle/>
                    <a:p>
                      <a:r>
                        <a:rPr sz="1650" b="1">
                          <a:solidFill>
                            <a:srgbClr val="000000"/>
                          </a:solidFill>
                        </a:rPr>
                        <a:t>02</a:t>
                      </a:r>
                    </a:p>
                  </a:txBody>
                  <a:tcPr marL="91440" marR="91440" marT="45720" marB="45720">
                    <a:solidFill>
                      <a:srgbClr val="FFFFFF"/>
                    </a:solidFill>
                  </a:tcPr>
                </a:tc>
                <a:tc>
                  <a:txBody>
                    <a:bodyPr/>
                    <a:lstStyle/>
                    <a:p>
                      <a:r>
                        <a:rPr sz="1650">
                          <a:solidFill>
                            <a:srgbClr val="000000"/>
                          </a:solidFill>
                        </a:rPr>
                        <a:t>Plot consumption, wind and solar for one day or week.</a:t>
                      </a:r>
                    </a:p>
                  </a:txBody>
                  <a:tcPr marL="91440" marR="91440" marT="45720" marB="45720">
                    <a:solidFill>
                      <a:srgbClr val="FFFFFF"/>
                    </a:solidFill>
                  </a:tcPr>
                </a:tc>
              </a:tr>
              <a:tr h="809625">
                <a:tc>
                  <a:txBody>
                    <a:bodyPr/>
                    <a:lstStyle/>
                    <a:p>
                      <a:r>
                        <a:rPr sz="1650" b="1">
                          <a:solidFill>
                            <a:srgbClr val="000000"/>
                          </a:solidFill>
                        </a:rPr>
                        <a:t>03</a:t>
                      </a:r>
                    </a:p>
                  </a:txBody>
                  <a:tcPr marL="91440" marR="91440" marT="45720" marB="45720">
                    <a:solidFill>
                      <a:srgbClr val="EDEDED"/>
                    </a:solidFill>
                  </a:tcPr>
                </a:tc>
                <a:tc>
                  <a:txBody>
                    <a:bodyPr/>
                    <a:lstStyle/>
                    <a:p>
                      <a:r>
                        <a:rPr sz="1650">
                          <a:solidFill>
                            <a:srgbClr val="000000"/>
                          </a:solidFill>
                        </a:rPr>
                        <a:t>Note one pattern that looks reasonable.</a:t>
                      </a:r>
                    </a:p>
                  </a:txBody>
                  <a:tcPr marL="91440" marR="91440" marT="45720" marB="45720">
                    <a:solidFill>
                      <a:srgbClr val="EDEDED"/>
                    </a:solidFill>
                  </a:tcPr>
                </a:tc>
              </a:tr>
              <a:tr h="809625">
                <a:tc>
                  <a:txBody>
                    <a:bodyPr/>
                    <a:lstStyle/>
                    <a:p>
                      <a:r>
                        <a:rPr sz="1650" b="1">
                          <a:solidFill>
                            <a:srgbClr val="000000"/>
                          </a:solidFill>
                        </a:rPr>
                        <a:t>04</a:t>
                      </a:r>
                    </a:p>
                  </a:txBody>
                  <a:tcPr marL="91440" marR="91440" marT="45720" marB="45720">
                    <a:solidFill>
                      <a:srgbClr val="FFFFFF"/>
                    </a:solidFill>
                  </a:tcPr>
                </a:tc>
                <a:tc>
                  <a:txBody>
                    <a:bodyPr/>
                    <a:lstStyle/>
                    <a:p>
                      <a:r>
                        <a:rPr sz="1650">
                          <a:solidFill>
                            <a:srgbClr val="000000"/>
                          </a:solidFill>
                        </a:rPr>
                        <a:t>Note one feature you would check before relying on it.</a:t>
                      </a:r>
                    </a:p>
                  </a:txBody>
                  <a:tcPr marL="91440" marR="91440" marT="45720" marB="45720">
                    <a:solidFill>
                      <a:srgbClr val="FFFFFF"/>
                    </a:solidFill>
                  </a:tcPr>
                </a:tc>
              </a:tr>
            </a:tbl>
          </a:graphicData>
        </a:graphic>
      </p:graphicFrame>
      <p:sp>
        <p:nvSpPr>
          <p:cNvPr id="5" name="slide-3-number-text">
            <a:extLst xmlns:a="http://schemas.openxmlformats.org/drawingml/2006/main">
              <a:ext uri="{FF2B5EF4-FFF2-40B4-BE49-F238E27FC236}">
                <a16:creationId xmlns:a16="http://schemas.microsoft.com/office/drawing/2014/main" id="{E7C6AE75-F051-4489-B2EF-8AE87648EAC8}"/>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5</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431611a11344c2c"/>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32278586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ask-title">
            <a:extLst xmlns:a="http://schemas.openxmlformats.org/drawingml/2006/main">
              <a:ext uri="{FF2B5EF4-FFF2-40B4-BE49-F238E27FC236}">
                <a16:creationId xmlns:a16="http://schemas.microsoft.com/office/drawing/2014/main" id="{B48C8150-5E13-4F7E-8EB0-4777CD11A163}"/>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Challenge options</a:t>
            </a:r>
          </a:p>
        </p:txBody>
      </p:sp>
      <p:sp>
        <p:nvSpPr>
          <p:cNvPr id="3" name="task-output">
            <a:extLst xmlns:a="http://schemas.openxmlformats.org/drawingml/2006/main">
              <a:ext uri="{FF2B5EF4-FFF2-40B4-BE49-F238E27FC236}">
                <a16:creationId xmlns:a16="http://schemas.microsoft.com/office/drawing/2014/main" id="{7D38F6A7-9D28-4CBC-8B69-75F7E9E9A1BA}"/>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500" b="1">
                <a:solidFill>
                  <a:srgbClr val="000000"/>
                </a:solidFill>
                <a:latin typeface="Arial"/>
                <a:ea typeface="Arial"/>
                <a:cs typeface="Arial"/>
              </a:defRPr>
            </a:pPr>
            <a:r>
              <a:t>State your assumptions. A careful limitation is part of a strong answer.</a:t>
            </a:r>
          </a:p>
        </p:txBody>
      </p:sp>
      <p:graphicFrame>
        <p:nvGraphicFramePr>
          <p:cNvPr id="11" name="Table 8"/>
          <p:cNvGraphicFramePr/>
          <p:nvPr/>
        </p:nvGraphicFramePr>
        <p:xfrm>
          <a:off xmlns:a="http://schemas.openxmlformats.org/drawingml/2006/main" x="400050" y="2000250"/>
          <a:ext xmlns:a="http://schemas.openxmlformats.org/drawingml/2006/main" cx="11391900" cy="3238500"/>
        </p:xfrm>
        <a:graphic xmlns:a="http://schemas.openxmlformats.org/drawingml/2006/main">
          <a:graphicData uri="http://schemas.openxmlformats.org/drawingml/2006/table">
            <a:tbl>
              <a:tblPr/>
              <a:tblGrid>
                <a:gridCol w="1047750"/>
                <a:gridCol w="10344150"/>
              </a:tblGrid>
              <a:tr h="809625">
                <a:tc>
                  <a:txBody>
                    <a:bodyPr/>
                    <a:lstStyle/>
                    <a:p>
                      <a:r>
                        <a:rPr sz="1650" b="1">
                          <a:solidFill>
                            <a:srgbClr val="000000"/>
                          </a:solidFill>
                        </a:rPr>
                        <a:t>02</a:t>
                      </a:r>
                    </a:p>
                  </a:txBody>
                  <a:tcPr marL="91440" marR="91440" marT="45720" marB="45720">
                    <a:solidFill>
                      <a:srgbClr val="EDEDED"/>
                    </a:solidFill>
                  </a:tcPr>
                </a:tc>
                <a:tc>
                  <a:txBody>
                    <a:bodyPr/>
                    <a:lstStyle/>
                    <a:p>
                      <a:r>
                        <a:rPr sz="1650">
                          <a:solidFill>
                            <a:srgbClr val="000000"/>
                          </a:solidFill>
                        </a:rPr>
                        <a:t>Compare years: how do demand and renewable generation change?</a:t>
                      </a:r>
                    </a:p>
                  </a:txBody>
                  <a:tcPr marL="91440" marR="91440" marT="45720" marB="45720">
                    <a:solidFill>
                      <a:srgbClr val="EDEDED"/>
                    </a:solidFill>
                  </a:tcPr>
                </a:tc>
              </a:tr>
              <a:tr h="809625">
                <a:tc>
                  <a:txBody>
                    <a:bodyPr/>
                    <a:lstStyle/>
                    <a:p>
                      <a:r>
                        <a:rPr sz="1650" b="1">
                          <a:solidFill>
                            <a:srgbClr val="000000"/>
                          </a:solidFill>
                        </a:rPr>
                        <a:t>03</a:t>
                      </a:r>
                    </a:p>
                  </a:txBody>
                  <a:tcPr marL="91440" marR="91440" marT="45720" marB="45720">
                    <a:solidFill>
                      <a:srgbClr val="FFFFFF"/>
                    </a:solidFill>
                  </a:tcPr>
                </a:tc>
                <a:tc>
                  <a:txBody>
                    <a:bodyPr/>
                    <a:lstStyle/>
                    <a:p>
                      <a:r>
                        <a:rPr sz="1650">
                          <a:solidFill>
                            <a:srgbClr val="000000"/>
                          </a:solidFill>
                        </a:rPr>
                        <a:t>Find excess: when, how often and for how long?</a:t>
                      </a:r>
                    </a:p>
                  </a:txBody>
                  <a:tcPr marL="91440" marR="91440" marT="45720" marB="45720">
                    <a:solidFill>
                      <a:srgbClr val="FFFFFF"/>
                    </a:solidFill>
                  </a:tcPr>
                </a:tc>
              </a:tr>
              <a:tr h="809625">
                <a:tc>
                  <a:txBody>
                    <a:bodyPr/>
                    <a:lstStyle/>
                    <a:p>
                      <a:r>
                        <a:rPr sz="1650" b="1">
                          <a:solidFill>
                            <a:srgbClr val="000000"/>
                          </a:solidFill>
                        </a:rPr>
                        <a:t>04</a:t>
                      </a:r>
                    </a:p>
                  </a:txBody>
                  <a:tcPr marL="91440" marR="91440" marT="45720" marB="45720">
                    <a:solidFill>
                      <a:srgbClr val="EDEDED"/>
                    </a:solidFill>
                  </a:tcPr>
                </a:tc>
                <a:tc>
                  <a:txBody>
                    <a:bodyPr/>
                    <a:lstStyle/>
                    <a:p>
                      <a:r>
                        <a:rPr sz="1650">
                          <a:solidFill>
                            <a:srgbClr val="000000"/>
                          </a:solidFill>
                        </a:rPr>
                        <a:t>Audit zeros: which look expected, and which need checking?</a:t>
                      </a:r>
                    </a:p>
                  </a:txBody>
                  <a:tcPr marL="91440" marR="91440" marT="45720" marB="45720">
                    <a:solidFill>
                      <a:srgbClr val="EDEDED"/>
                    </a:solidFill>
                  </a:tcPr>
                </a:tc>
              </a:tr>
              <a:tr h="809625">
                <a:tc>
                  <a:txBody>
                    <a:bodyPr/>
                    <a:lstStyle/>
                    <a:p>
                      <a:r>
                        <a:rPr sz="1650" b="1">
                          <a:solidFill>
                            <a:srgbClr val="000000"/>
                          </a:solidFill>
                        </a:rPr>
                        <a:t>05</a:t>
                      </a:r>
                    </a:p>
                  </a:txBody>
                  <a:tcPr marL="91440" marR="91440" marT="45720" marB="45720">
                    <a:solidFill>
                      <a:srgbClr val="FFFFFF"/>
                    </a:solidFill>
                  </a:tcPr>
                </a:tc>
                <a:tc>
                  <a:txBody>
                    <a:bodyPr/>
                    <a:lstStyle/>
                    <a:p>
                      <a:r>
                        <a:rPr sz="1650">
                          <a:solidFill>
                            <a:srgbClr val="000000"/>
                          </a:solidFill>
                        </a:rPr>
                        <a:t>Advise Keele: which flexible response fits a recurring surplus?</a:t>
                      </a:r>
                    </a:p>
                  </a:txBody>
                  <a:tcPr marL="91440" marR="91440" marT="45720" marB="45720">
                    <a:solidFill>
                      <a:srgbClr val="FFFFFF"/>
                    </a:solidFill>
                  </a:tcPr>
                </a:tc>
              </a:tr>
            </a:tbl>
          </a:graphicData>
        </a:graphic>
      </p:graphicFrame>
      <p:sp>
        <p:nvSpPr>
          <p:cNvPr id="5" name="slide-3-number-text">
            <a:extLst xmlns:a="http://schemas.openxmlformats.org/drawingml/2006/main">
              <a:ext uri="{FF2B5EF4-FFF2-40B4-BE49-F238E27FC236}">
                <a16:creationId xmlns:a16="http://schemas.microsoft.com/office/drawing/2014/main" id="{E7C6AE75-F051-4489-B2EF-8AE87648EAC8}"/>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6</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0a303fa526144be5"/>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32278586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ask-title">
            <a:extLst xmlns:a="http://schemas.openxmlformats.org/drawingml/2006/main">
              <a:ext uri="{FF2B5EF4-FFF2-40B4-BE49-F238E27FC236}">
                <a16:creationId xmlns:a16="http://schemas.microsoft.com/office/drawing/2014/main" id="{B48C8150-5E13-4F7E-8EB0-4777CD11A163}"/>
              </a:ext>
            </a:extLst>
          </p:cNvPr>
          <p:cNvSpPr>
            <a:spLocks xmlns:a="http://schemas.openxmlformats.org/drawingml/2006/main" noGrp="1"/>
          </p:cNvSpPr>
          <p:nvPr/>
        </p:nvSpPr>
        <p:spPr>
          <a:xfrm xmlns:a="http://schemas.openxmlformats.org/drawingml/2006/main">
            <a:off x="400050" y="342900"/>
            <a:ext cx="11391900" cy="6858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3600" b="1">
                <a:solidFill>
                  <a:srgbClr val="000000"/>
                </a:solidFill>
                <a:latin typeface="Arial"/>
                <a:ea typeface="Arial"/>
                <a:cs typeface="Arial"/>
              </a:defRPr>
            </a:pPr>
            <a:r>
              <a:t>Group presentation</a:t>
            </a:r>
          </a:p>
        </p:txBody>
      </p:sp>
      <p:sp>
        <p:nvSpPr>
          <p:cNvPr id="3" name="task-output">
            <a:extLst xmlns:a="http://schemas.openxmlformats.org/drawingml/2006/main">
              <a:ext uri="{FF2B5EF4-FFF2-40B4-BE49-F238E27FC236}">
                <a16:creationId xmlns:a16="http://schemas.microsoft.com/office/drawing/2014/main" id="{7D38F6A7-9D28-4CBC-8B69-75F7E9E9A1BA}"/>
              </a:ext>
            </a:extLst>
          </p:cNvPr>
          <p:cNvSpPr>
            <a:spLocks xmlns:a="http://schemas.openxmlformats.org/drawingml/2006/main" noGrp="1"/>
          </p:cNvSpPr>
          <p:nvPr/>
        </p:nvSpPr>
        <p:spPr>
          <a:xfrm xmlns:a="http://schemas.openxmlformats.org/drawingml/2006/main">
            <a:off x="400050" y="5905500"/>
            <a:ext cx="10668000" cy="34290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1500" b="1">
                <a:solidFill>
                  <a:srgbClr val="000000"/>
                </a:solidFill>
                <a:latin typeface="Arial"/>
                <a:ea typeface="Arial"/>
                <a:cs typeface="Arial"/>
              </a:defRPr>
            </a:pPr>
            <a:r>
              <a:t>One slide, about one minute. Focus on one finding.</a:t>
            </a:r>
          </a:p>
        </p:txBody>
      </p:sp>
      <p:graphicFrame>
        <p:nvGraphicFramePr>
          <p:cNvPr id="11" name="Table 8"/>
          <p:cNvGraphicFramePr/>
          <p:nvPr/>
        </p:nvGraphicFramePr>
        <p:xfrm>
          <a:off xmlns:a="http://schemas.openxmlformats.org/drawingml/2006/main" x="400050" y="2000250"/>
          <a:ext xmlns:a="http://schemas.openxmlformats.org/drawingml/2006/main" cx="11391900" cy="3238500"/>
        </p:xfrm>
        <a:graphic xmlns:a="http://schemas.openxmlformats.org/drawingml/2006/main">
          <a:graphicData uri="http://schemas.openxmlformats.org/drawingml/2006/table">
            <a:tbl>
              <a:tblPr/>
              <a:tblGrid>
                <a:gridCol w="1047750"/>
                <a:gridCol w="10344150"/>
              </a:tblGrid>
              <a:tr h="809625">
                <a:tc>
                  <a:txBody>
                    <a:bodyPr/>
                    <a:lstStyle/>
                    <a:p>
                      <a:r>
                        <a:rPr sz="1650" b="1">
                          <a:solidFill>
                            <a:srgbClr val="000000"/>
                          </a:solidFill>
                        </a:rPr>
                        <a:t>01</a:t>
                      </a:r>
                    </a:p>
                  </a:txBody>
                  <a:tcPr marL="91440" marR="91440" marT="45720" marB="45720">
                    <a:solidFill>
                      <a:srgbClr val="EDEDED"/>
                    </a:solidFill>
                  </a:tcPr>
                </a:tc>
                <a:tc>
                  <a:txBody>
                    <a:bodyPr/>
                    <a:lstStyle/>
                    <a:p>
                      <a:r>
                        <a:rPr sz="1650">
                          <a:solidFill>
                            <a:srgbClr val="000000"/>
                          </a:solidFill>
                        </a:rPr>
                        <a:t>One clearly labelled plot</a:t>
                      </a:r>
                    </a:p>
                  </a:txBody>
                  <a:tcPr marL="91440" marR="91440" marT="45720" marB="45720">
                    <a:solidFill>
                      <a:srgbClr val="EDEDED"/>
                    </a:solidFill>
                  </a:tcPr>
                </a:tc>
              </a:tr>
              <a:tr h="809625">
                <a:tc>
                  <a:txBody>
                    <a:bodyPr/>
                    <a:lstStyle/>
                    <a:p>
                      <a:r>
                        <a:rPr sz="1650" b="1">
                          <a:solidFill>
                            <a:srgbClr val="000000"/>
                          </a:solidFill>
                        </a:rPr>
                        <a:t>02</a:t>
                      </a:r>
                    </a:p>
                  </a:txBody>
                  <a:tcPr marL="91440" marR="91440" marT="45720" marB="45720">
                    <a:solidFill>
                      <a:srgbClr val="FFFFFF"/>
                    </a:solidFill>
                  </a:tcPr>
                </a:tc>
                <a:tc>
                  <a:txBody>
                    <a:bodyPr/>
                    <a:lstStyle/>
                    <a:p>
                      <a:r>
                        <a:rPr sz="1650">
                          <a:solidFill>
                            <a:srgbClr val="000000"/>
                          </a:solidFill>
                        </a:rPr>
                        <a:t>One key finding or question from the data</a:t>
                      </a:r>
                    </a:p>
                  </a:txBody>
                  <a:tcPr marL="91440" marR="91440" marT="45720" marB="45720">
                    <a:solidFill>
                      <a:srgbClr val="FFFFFF"/>
                    </a:solidFill>
                  </a:tcPr>
                </a:tc>
              </a:tr>
              <a:tr h="809625">
                <a:tc>
                  <a:txBody>
                    <a:bodyPr/>
                    <a:lstStyle/>
                    <a:p>
                      <a:r>
                        <a:rPr sz="1650" b="1">
                          <a:solidFill>
                            <a:srgbClr val="000000"/>
                          </a:solidFill>
                        </a:rPr>
                        <a:t>03</a:t>
                      </a:r>
                    </a:p>
                  </a:txBody>
                  <a:tcPr marL="91440" marR="91440" marT="45720" marB="45720">
                    <a:solidFill>
                      <a:srgbClr val="EDEDED"/>
                    </a:solidFill>
                  </a:tcPr>
                </a:tc>
                <a:tc>
                  <a:txBody>
                    <a:bodyPr/>
                    <a:lstStyle/>
                    <a:p>
                      <a:r>
                        <a:rPr sz="1650">
                          <a:solidFill>
                            <a:srgbClr val="000000"/>
                          </a:solidFill>
                        </a:rPr>
                        <a:t>Why it matters or how it could be used</a:t>
                      </a:r>
                    </a:p>
                  </a:txBody>
                  <a:tcPr marL="91440" marR="91440" marT="45720" marB="45720">
                    <a:solidFill>
                      <a:srgbClr val="EDEDED"/>
                    </a:solidFill>
                  </a:tcPr>
                </a:tc>
              </a:tr>
              <a:tr h="809625">
                <a:tc>
                  <a:txBody>
                    <a:bodyPr/>
                    <a:lstStyle/>
                    <a:p>
                      <a:r>
                        <a:rPr sz="1650" b="1">
                          <a:solidFill>
                            <a:srgbClr val="000000"/>
                          </a:solidFill>
                        </a:rPr>
                        <a:t>04</a:t>
                      </a:r>
                    </a:p>
                  </a:txBody>
                  <a:tcPr marL="91440" marR="91440" marT="45720" marB="45720">
                    <a:solidFill>
                      <a:srgbClr val="FFFFFF"/>
                    </a:solidFill>
                  </a:tcPr>
                </a:tc>
                <a:tc>
                  <a:txBody>
                    <a:bodyPr/>
                    <a:lstStyle/>
                    <a:p>
                      <a:r>
                        <a:rPr sz="1650">
                          <a:solidFill>
                            <a:srgbClr val="000000"/>
                          </a:solidFill>
                        </a:rPr>
                        <a:t>Any assumption or limitation needed to understand the finding</a:t>
                      </a:r>
                    </a:p>
                  </a:txBody>
                  <a:tcPr marL="91440" marR="91440" marT="45720" marB="45720">
                    <a:solidFill>
                      <a:srgbClr val="FFFFFF"/>
                    </a:solidFill>
                  </a:tcPr>
                </a:tc>
              </a:tr>
            </a:tbl>
          </a:graphicData>
        </a:graphic>
      </p:graphicFrame>
      <p:sp>
        <p:nvSpPr>
          <p:cNvPr id="5" name="slide-3-number-text">
            <a:extLst xmlns:a="http://schemas.openxmlformats.org/drawingml/2006/main">
              <a:ext uri="{FF2B5EF4-FFF2-40B4-BE49-F238E27FC236}">
                <a16:creationId xmlns:a16="http://schemas.microsoft.com/office/drawing/2014/main" id="{E7C6AE75-F051-4489-B2EF-8AE87648EAC8}"/>
              </a:ext>
            </a:extLst>
          </p:cNvPr>
          <p:cNvSpPr>
            <a:spLocks xmlns:a="http://schemas.openxmlformats.org/drawingml/2006/main" noGrp="1"/>
          </p:cNvSpPr>
          <p:nvPr/>
        </p:nvSpPr>
        <p:spPr>
          <a:xfrm xmlns:a="http://schemas.openxmlformats.org/drawingml/2006/main">
            <a:off x="11277600" y="6286500"/>
            <a:ext cx="523875" cy="228600"/>
          </a:xfrm>
          <a:prstGeom xmlns:a="http://schemas.openxmlformats.org/drawingml/2006/main" prst="rect">
            <a:avLst/>
          </a:prstGeom>
        </p:spPr>
        <p:txBody>
          <a:bodyPr xmlns:a="http://schemas.openxmlformats.org/drawingml/2006/main" lIns="0" tIns="0" rIns="0" bIns="0" anchor="b"/>
          <a:lstStyle xmlns:a="http://schemas.openxmlformats.org/drawingml/2006/main"/>
          <a:p xmlns:a="http://schemas.openxmlformats.org/drawingml/2006/main">
            <a:pPr algn="r">
              <a:buNone/>
              <a:defRPr sz="1200">
                <a:solidFill>
                  <a:srgbClr val="000000"/>
                </a:solidFill>
                <a:latin typeface="Arial"/>
                <a:ea typeface="Arial"/>
                <a:cs typeface="Arial"/>
              </a:defRPr>
            </a:pPr>
            <a:r>
              <a:t>7</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33ecda2196fe4073"/>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Tree>
    <p:extLst>
      <p:ext uri="{BB962C8B-B14F-4D97-AF65-F5344CB8AC3E}">
        <p14:creationId xmlns:p14="http://schemas.microsoft.com/office/powerpoint/2010/main" val="32278586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cover-title">
            <a:extLst xmlns:a="http://schemas.openxmlformats.org/drawingml/2006/main">
              <a:ext uri="{FF2B5EF4-FFF2-40B4-BE49-F238E27FC236}">
                <a16:creationId xmlns:a16="http://schemas.microsoft.com/office/drawing/2014/main" id="{48F8986E-5C02-4145-830C-93A5BB4874E5}"/>
              </a:ext>
            </a:extLst>
          </p:cNvPr>
          <p:cNvSpPr>
            <a:spLocks xmlns:a="http://schemas.openxmlformats.org/drawingml/2006/main" noGrp="1"/>
          </p:cNvSpPr>
          <p:nvPr/>
        </p:nvSpPr>
        <p:spPr>
          <a:xfrm xmlns:a="http://schemas.openxmlformats.org/drawingml/2006/main">
            <a:off x="400050" y="2133600"/>
            <a:ext cx="10668000" cy="1219200"/>
          </a:xfrm>
          <a:prstGeom xmlns:a="http://schemas.openxmlformats.org/drawingml/2006/main" prst="rect">
            <a:avLst/>
          </a:prstGeom>
        </p:spPr>
        <p:txBody>
          <a:bodyPr xmlns:a="http://schemas.openxmlformats.org/drawingml/2006/main" lIns="0" tIns="0" rIns="0" bIns="0" anchor="b">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t>Evidence and limits</a:t>
            </a:r>
          </a:p>
        </p:txBody>
      </p:sp>
      <p:sp>
        <p:nvSpPr>
          <p:cNvPr id="3" name="cover-subtitle">
            <a:extLst xmlns:a="http://schemas.openxmlformats.org/drawingml/2006/main">
              <a:ext uri="{FF2B5EF4-FFF2-40B4-BE49-F238E27FC236}">
                <a16:creationId xmlns:a16="http://schemas.microsoft.com/office/drawing/2014/main" id="{A616F3F0-20B9-4038-8E51-F0CD17EF020B}"/>
              </a:ext>
            </a:extLst>
          </p:cNvPr>
          <p:cNvSpPr>
            <a:spLocks xmlns:a="http://schemas.openxmlformats.org/drawingml/2006/main" noGrp="1"/>
          </p:cNvSpPr>
          <p:nvPr/>
        </p:nvSpPr>
        <p:spPr>
          <a:xfrm xmlns:a="http://schemas.openxmlformats.org/drawingml/2006/main">
            <a:off x="400050" y="4114800"/>
            <a:ext cx="9525000" cy="514350"/>
          </a:xfrm>
          <a:prstGeom xmlns:a="http://schemas.openxmlformats.org/drawingml/2006/main" prst="rect">
            <a:avLst/>
          </a:prstGeom>
        </p:spPr>
        <p:txBody>
          <a:bodyPr xmlns:a="http://schemas.openxmlformats.org/drawingml/2006/main" lIns="0" tIns="0" rIns="0" bIns="0">
            <a:noAutofit/>
          </a:bodyPr>
          <a:lstStyle xmlns:a="http://schemas.openxmlformats.org/drawingml/2006/main"/>
          <a:p xmlns:a="http://schemas.openxmlformats.org/drawingml/2006/main">
            <a:pPr algn="l">
              <a:buNone/>
              <a:defRPr sz="2100">
                <a:solidFill>
                  <a:srgbClr val="000000"/>
                </a:solidFill>
                <a:latin typeface="Arial"/>
                <a:ea typeface="Arial"/>
                <a:cs typeface="Arial"/>
              </a:defRPr>
            </a:pPr>
            <a:r>
              <a:t>Show the finding, its limits and the next check.</a:t>
            </a:r>
          </a:p>
        </p:txBody>
      </p:sp>
      <p:sp>
        <p:nvSpPr>
          <p:cNvPr id="4" name="sharing-acknowledgement">
            <a:extLst xmlns:a="http://schemas.openxmlformats.org/drawingml/2006/main">
              <a:ext uri="{FF2B5EF4-FFF2-40B4-BE49-F238E27FC236}">
                <a16:creationId xmlns:a16="http://schemas.microsoft.com/office/drawing/2014/main" id="{697D512D-843E-4437-81FD-E310728D03AE}"/>
              </a:ext>
            </a:extLst>
          </p:cNvPr>
          <p:cNvSpPr>
            <a:spLocks xmlns:a="http://schemas.openxmlformats.org/drawingml/2006/main" noGrp="1"/>
          </p:cNvSpPr>
          <p:nvPr/>
        </p:nvSpPr>
        <p:spPr>
          <a:xfrm xmlns:a="http://schemas.openxmlformats.org/drawingml/2006/main">
            <a:off x="400050" y="4781550"/>
            <a:ext cx="113919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1800">
                <a:solidFill>
                  <a:srgbClr val="000000"/>
                </a:solidFill>
                <a:latin typeface="Arial"/>
                <a:ea typeface="Arial"/>
                <a:cs typeface="Arial"/>
              </a:defRPr>
            </a:pPr>
            <a:r>
              <a:rPr sz="1800">
                <a:solidFill>
                  <a:srgbClr val="000000"/>
                </a:solidFill>
                <a:latin typeface="Arial"/>
                <a:ea typeface="Arial"/>
                <a:cs typeface="Arial"/>
              </a:rPr>
              <a:t>Sharing or continuing your work? Credit Keele's SEND team and cite</a:t>
            </a:r>
          </a:p>
          <a:p xmlns:a="http://schemas.openxmlformats.org/drawingml/2006/main">
            <a:pPr>
              <a:buNone/>
              <a:defRPr sz="1800">
                <a:solidFill>
                  <a:srgbClr val="000000"/>
                </a:solidFill>
                <a:latin typeface="Arial"/>
                <a:ea typeface="Arial"/>
                <a:cs typeface="Arial"/>
              </a:defRPr>
            </a:pPr>
            <a:r>
              <a:rPr sz="1800">
                <a:solidFill>
                  <a:srgbClr val="000000"/>
                </a:solidFill>
                <a:latin typeface="Arial"/>
                <a:ea typeface="Arial"/>
                <a:cs typeface="Arial"/>
              </a:rPr>
              <a:t>the data repository and paper. Describe your own contribution.</a:t>
            </a:r>
          </a:p>
          <a:p xmlns:a="http://schemas.openxmlformats.org/drawingml/2006/main">
            <a:pPr>
              <a:buNone/>
              <a:defRPr sz="1800">
                <a:solidFill>
                  <a:srgbClr val="000000"/>
                </a:solidFill>
                <a:latin typeface="Arial"/>
                <a:ea typeface="Arial"/>
                <a:cs typeface="Arial"/>
              </a:defRPr>
            </a:pPr>
            <a:r>
              <a:rPr sz="1800">
                <a:solidFill>
                  <a:srgbClr val="000000"/>
                </a:solidFill>
                <a:latin typeface="Arial"/>
                <a:ea typeface="Arial"/>
                <a:cs typeface="Arial"/>
              </a:rPr>
              <a:t>Full citation and example wording: ACKNOWLEDGEMENTS.md</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a60ebf68fb1e4c69"/>
          <a:stretch xmlns:a="http://schemas.openxmlformats.org/drawingml/2006/main"/>
        </p:blipFill>
        <p:spPr>
          <a:xfrm xmlns:a="http://schemas.openxmlformats.org/drawingml/2006/main">
            <a:off x="9763125" y="381000"/>
            <a:ext cx="2000250" cy="353580"/>
          </a:xfrm>
          <a:prstGeom xmlns:a="http://schemas.openxmlformats.org/drawingml/2006/main" prst="rect">
            <a:avLst/>
          </a:prstGeom>
        </p:spPr>
      </p:pic>
      <p:sp>
        <p:nvSpPr>
          <p:cNvPr id="6" name="Partner logo white footer">
            <a:extLst xmlns:a="http://schemas.openxmlformats.org/drawingml/2006/main">
              <a:ext uri="{FF2B5EF4-FFF2-40B4-BE49-F238E27FC236}">
                <a16:creationId xmlns:a16="http://schemas.microsoft.com/office/drawing/2014/main" id="{E72FB7BD-3672-4654-9C79-3FD7791C823D}"/>
              </a:ext>
            </a:extLst>
          </p:cNvPr>
          <p:cNvSpPr>
            <a:spLocks xmlns:a="http://schemas.openxmlformats.org/drawingml/2006/main" noGrp="1"/>
          </p:cNvSpPr>
          <p:nvPr/>
        </p:nvSpPr>
        <p:spPr>
          <a:xfrm xmlns:a="http://schemas.openxmlformats.org/drawingml/2006/main">
            <a:off x="0" y="6000750"/>
            <a:ext cx="12192000" cy="857250"/>
          </a:xfrm>
          <a:prstGeom xmlns:a="http://schemas.openxmlformats.org/drawingml/2006/main" prst="rect">
            <a:avLst/>
          </a:prstGeom>
          <a:solidFill xmlns:a="http://schemas.openxmlformats.org/drawingml/2006/main">
            <a:srgbClr val="FFFFFF"/>
          </a:solidFill>
          <a:ln xmlns:a="http://schemas.openxmlformats.org/drawingml/2006/main" w="0">
            <a:noFill/>
          </a:ln>
        </p:spPr>
      </p:sp>
      <p:sp>
        <p:nvSpPr>
          <p:cNvPr id="7" name="ERA blue rule">
            <a:extLst xmlns:a="http://schemas.openxmlformats.org/drawingml/2006/main">
              <a:ext uri="{FF2B5EF4-FFF2-40B4-BE49-F238E27FC236}">
                <a16:creationId xmlns:a16="http://schemas.microsoft.com/office/drawing/2014/main" id="{4EB5639D-3AA1-4CFB-A320-38887F8160A6}"/>
              </a:ext>
            </a:extLst>
          </p:cNvPr>
          <p:cNvSpPr>
            <a:spLocks xmlns:a="http://schemas.openxmlformats.org/drawingml/2006/main" noGrp="1"/>
          </p:cNvSpPr>
          <p:nvPr/>
        </p:nvSpPr>
        <p:spPr>
          <a:xfrm xmlns:a="http://schemas.openxmlformats.org/drawingml/2006/main">
            <a:off x="0" y="6000750"/>
            <a:ext cx="12192000" cy="19050"/>
          </a:xfrm>
          <a:prstGeom xmlns:a="http://schemas.openxmlformats.org/drawingml/2006/main" prst="rect">
            <a:avLst/>
          </a:prstGeom>
          <a:solidFill xmlns:a="http://schemas.openxmlformats.org/drawingml/2006/main">
            <a:srgbClr val="004899"/>
          </a:solidFill>
          <a:ln xmlns:a="http://schemas.openxmlformats.org/drawingml/2006/main" w="0">
            <a:noFill/>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ae904ace24fc425e"/>
          <a:srcRect xmlns:a="http://schemas.openxmlformats.org/drawingml/2006/main" l="0" t="39598" r="0" b="0"/>
          <a:stretch xmlns:a="http://schemas.openxmlformats.org/drawingml/2006/main">
            <a:fillRect l="0" t="0" r="0" b="0"/>
          </a:stretch>
        </p:blipFill>
        <p:spPr>
          <a:xfrm xmlns:a="http://schemas.openxmlformats.org/drawingml/2006/main">
            <a:off x="619125" y="6038850"/>
            <a:ext cx="10953750" cy="811857"/>
          </a:xfrm>
          <a:prstGeom xmlns:a="http://schemas.openxmlformats.org/drawingml/2006/main" prst="rect">
            <a:avLst/>
          </a:prstGeom>
        </p:spPr>
      </p:pic>
    </p:spTree>
    <p:extLst>
      <p:ext uri="{BB962C8B-B14F-4D97-AF65-F5344CB8AC3E}">
        <p14:creationId xmlns:p14="http://schemas.microsoft.com/office/powerpoint/2010/main" val="207799576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2026-09-08T20:12:15.4020000Z</dcterms:created>
  <dcterms:modified xsi:type="dcterms:W3CDTF">2026-09-08T20:12:15.4020000Z</dcterms:modified>
</coreProperties>
</file>