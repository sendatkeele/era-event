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cc983f8ee994c1c" /><Relationship Type="http://schemas.openxmlformats.org/officeDocument/2006/relationships/extended-properties" Target="/docProps/app.xml" Id="R335e9389d1934a77" /><Relationship Type="http://schemas.openxmlformats.org/officeDocument/2006/relationships/officeDocument" Target="/ppt/presentation.xml" Id="R2e320dd0e501491c" /></Relationships>
</file>

<file path=ppt/presentation.xml><?xml version="1.0" encoding="utf-8"?>
<p:presentation xmlns:p="http://schemas.openxmlformats.org/presentationml/2006/main">
  <p:sldMasterIdLst>
    <p:sldMasterId xmlns:r="http://schemas.openxmlformats.org/officeDocument/2006/relationships" id="2147483648" r:id="Ra2f211f037b54840"/>
  </p:sldMasterIdLst>
  <p:notesMasterIdLst>
    <p:notesMasterId xmlns:r="http://schemas.openxmlformats.org/officeDocument/2006/relationships" r:id="R7ff7a5d711d34605"/>
  </p:notesMasterIdLst>
  <p:sldIdLst>
    <p:sldId xmlns:r="http://schemas.openxmlformats.org/officeDocument/2006/relationships" id="256" r:id="Rcec712fde5ce47de"/>
    <p:sldId xmlns:r="http://schemas.openxmlformats.org/officeDocument/2006/relationships" id="257" r:id="R261f2376f1414690"/>
    <p:sldId xmlns:r="http://schemas.openxmlformats.org/officeDocument/2006/relationships" id="258" r:id="R7fdeaa85cfc347ba"/>
    <p:sldId xmlns:r="http://schemas.openxmlformats.org/officeDocument/2006/relationships" id="259" r:id="R4b36799e3cfc4a5a"/>
    <p:sldId xmlns:r="http://schemas.openxmlformats.org/officeDocument/2006/relationships" id="260" r:id="R34cbdbbb5eee42fd"/>
    <p:sldId xmlns:r="http://schemas.openxmlformats.org/officeDocument/2006/relationships" id="261" r:id="R3d51474b15574a0a"/>
    <p:sldId xmlns:r="http://schemas.openxmlformats.org/officeDocument/2006/relationships" id="262" r:id="R8ea61ce599c14768"/>
    <p:sldId xmlns:r="http://schemas.openxmlformats.org/officeDocument/2006/relationships" id="263" r:id="R1eb565ca0be440d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46cc4aab20934d97" /><Relationship Type="http://schemas.openxmlformats.org/officeDocument/2006/relationships/slideMaster" Target="/ppt/slideMasters/slideMaster1.xml" Id="Ra2f211f037b54840" /><Relationship Type="http://schemas.openxmlformats.org/officeDocument/2006/relationships/notesMaster" Target="/ppt/notesMasters/notesMaster1.xml" Id="R7ff7a5d711d34605" /><Relationship Type="http://schemas.openxmlformats.org/officeDocument/2006/relationships/presProps" Target="/ppt/presProps.xml" Id="R838df730c10947f9" /><Relationship Type="http://schemas.openxmlformats.org/officeDocument/2006/relationships/viewProps" Target="/ppt/viewProps.xml" Id="Re255fa0bc2c4413d" /><Relationship Type="http://schemas.openxmlformats.org/officeDocument/2006/relationships/tableStyles" Target="/ppt/tableStyles.xml" Id="Ra71efcccb8c24384" /><Relationship Type="http://schemas.openxmlformats.org/officeDocument/2006/relationships/slide" Target="/ppt/slides/slide1.xml" Id="Rcec712fde5ce47de" /><Relationship Type="http://schemas.openxmlformats.org/officeDocument/2006/relationships/slide" Target="/ppt/slides/slide2.xml" Id="R261f2376f1414690" /><Relationship Type="http://schemas.openxmlformats.org/officeDocument/2006/relationships/slide" Target="/ppt/slides/slide3.xml" Id="R7fdeaa85cfc347ba" /><Relationship Type="http://schemas.openxmlformats.org/officeDocument/2006/relationships/slide" Target="/ppt/slides/slide4.xml" Id="R4b36799e3cfc4a5a" /><Relationship Type="http://schemas.openxmlformats.org/officeDocument/2006/relationships/slide" Target="/ppt/slides/slide5.xml" Id="R34cbdbbb5eee42fd" /><Relationship Type="http://schemas.openxmlformats.org/officeDocument/2006/relationships/slide" Target="/ppt/slides/slide6.xml" Id="R3d51474b15574a0a" /><Relationship Type="http://schemas.openxmlformats.org/officeDocument/2006/relationships/slide" Target="/ppt/slides/slide7.xml" Id="R8ea61ce599c14768" /><Relationship Type="http://schemas.openxmlformats.org/officeDocument/2006/relationships/slide" Target="/ppt/slides/slide8.xml" Id="R1eb565ca0be440d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27819fbfb545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2b98dfba33b4e88" /><Relationship Type="http://schemas.openxmlformats.org/officeDocument/2006/relationships/notesMaster" Target="/ppt/notesMasters/notesMaster1.xml" Id="Rb4826a6d974543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c5bccfb00c4d80" /><Relationship Type="http://schemas.openxmlformats.org/officeDocument/2006/relationships/notesMaster" Target="/ppt/notesMasters/notesMaster1.xml" Id="R364b5008d3b647f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e7244ac56e4f84" /><Relationship Type="http://schemas.openxmlformats.org/officeDocument/2006/relationships/notesMaster" Target="/ppt/notesMasters/notesMaster1.xml" Id="Rf14289650386464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46cf53ff5884fdd" /><Relationship Type="http://schemas.openxmlformats.org/officeDocument/2006/relationships/notesMaster" Target="/ppt/notesMasters/notesMaster1.xml" Id="Rf8656e41c75540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fb4aafbfa440e5" /><Relationship Type="http://schemas.openxmlformats.org/officeDocument/2006/relationships/notesMaster" Target="/ppt/notesMasters/notesMaster1.xml" Id="R9b295804c13c45a6" /></Relationships>
</file>

<file path=ppt/notesSlides/_rels/notesSlide6.xml.rels>&#65279;<?xml version="1.0" encoding="utf-8"?><Relationships xmlns="http://schemas.openxmlformats.org/package/2006/relationships"><Relationship Type="http://schemas.openxmlformats.org/officeDocument/2006/relationships/slide" Target="/ppt/slides/slide6.xml" Id="R66fe24a3c5504115" /><Relationship Type="http://schemas.openxmlformats.org/officeDocument/2006/relationships/notesMaster" Target="/ppt/notesMasters/notesMaster1.xml" Id="R00027696222c43a2" /></Relationships>
</file>

<file path=ppt/notesSlides/_rels/notesSlide7.xml.rels>&#65279;<?xml version="1.0" encoding="utf-8"?><Relationships xmlns="http://schemas.openxmlformats.org/package/2006/relationships"><Relationship Type="http://schemas.openxmlformats.org/officeDocument/2006/relationships/slide" Target="/ppt/slides/slide7.xml" Id="Rcfb3d76acce54f2f" /><Relationship Type="http://schemas.openxmlformats.org/officeDocument/2006/relationships/notesMaster" Target="/ppt/notesMasters/notesMaster1.xml" Id="R84353c11808745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db26574e24314b34" /><Relationship Type="http://schemas.openxmlformats.org/officeDocument/2006/relationships/notesMaster" Target="/ppt/notesMasters/notesMaster1.xml" Id="R401fdf47ac1e40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VS Plotter by Rafael Arvelo, extension ID RafaelArvelo.vsplotter. Instructions: https://marketplace.visualstudio.com/items?itemName=RafaelArvelo.vsplotter. Open a CSV, run VSPlotter: Create Plot from file, choose DateTime for X and the three power columns for 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share work from this event or continue using the data afterwards, acknowledge the SEND team at Keele University and cite both the data repository and the associated paper. The paper is a submitted manuscript under review. See ACKNOWLEDGEMENTS.md for the full citation and wording you can adapt.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97324a852a45c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f5772861ac4703" /><Relationship Type="http://schemas.openxmlformats.org/officeDocument/2006/relationships/slideLayout" Target="/ppt/slideLayouts/slideLayout1.xml" Id="R0ceed60928ec42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ceed60928ec42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d374111b5b54b47" /><Relationship Type="http://schemas.openxmlformats.org/officeDocument/2006/relationships/notesSlide" Target="/ppt/notesSlides/notesSlide1.xml" Id="R8471a0cef7ed48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4c9d1f2eb114724" /><Relationship Type="http://schemas.openxmlformats.org/officeDocument/2006/relationships/notesSlide" Target="/ppt/notesSlides/notesSlide2.xml" Id="R8f16c2cd1844412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6dd207674eb4359" /><Relationship Type="http://schemas.openxmlformats.org/officeDocument/2006/relationships/notesSlide" Target="/ppt/notesSlides/notesSlide3.xml" Id="Rfd583e8087264c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e0e39f97a854b27" /><Relationship Type="http://schemas.openxmlformats.org/officeDocument/2006/relationships/notesSlide" Target="/ppt/notesSlides/notesSlide4.xml" Id="R740a5329a9a04db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6dd257414484ea7" /><Relationship Type="http://schemas.openxmlformats.org/officeDocument/2006/relationships/notesSlide" Target="/ppt/notesSlides/notesSlide5.xml" Id="R36012c74523943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274df15518f4924" /><Relationship Type="http://schemas.openxmlformats.org/officeDocument/2006/relationships/notesSlide" Target="/ppt/notesSlides/notesSlide6.xml" Id="Rc54ea0f13f464a6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60fcb82504b428b" /><Relationship Type="http://schemas.openxmlformats.org/officeDocument/2006/relationships/notesSlide" Target="/ppt/notesSlides/notesSlide7.xml" Id="Re748ed368b72417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2689960448e4c10" /><Relationship Type="http://schemas.openxmlformats.org/officeDocument/2006/relationships/notesSlide" Target="/ppt/notesSlides/notesSlide8.xml" Id="R6ca31662b1884c3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cover-eyebrow">
            <a:extLst xmlns:a="http://schemas.openxmlformats.org/drawingml/2006/main">
              <a:ext uri="{FF2B5EF4-FFF2-40B4-BE49-F238E27FC236}">
                <a16:creationId xmlns:a16="http://schemas.microsoft.com/office/drawing/2014/main" id="{A1CC4825-7955-4BF3-B1B4-690D5A13703C}"/>
              </a:ext>
            </a:extLst>
          </p:cNvPr>
          <p:cNvSpPr>
            <a:spLocks xmlns:a="http://schemas.openxmlformats.org/drawingml/2006/main" noGrp="1"/>
          </p:cNvSpPr>
          <p:nvPr/>
        </p:nvSpPr>
        <p:spPr>
          <a:xfrm xmlns:a="http://schemas.openxmlformats.org/drawingml/2006/main">
            <a:off x="400050" y="400050"/>
            <a:ext cx="5715000" cy="5143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lgn="l">
              <a:buNone/>
              <a:defRPr sz="1800" b="1">
                <a:solidFill>
                  <a:srgbClr val="000000"/>
                </a:solidFill>
                <a:latin typeface="Arial"/>
                <a:ea typeface="Arial"/>
                <a:cs typeface="Arial"/>
              </a:defRPr>
            </a:pPr>
            <a:r>
              <a:t>ERA Skills School</a:t>
            </a:r>
          </a:p>
        </p:txBody>
      </p:sp>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Keele energy challenge</a:t>
            </a:r>
          </a:p>
        </p:txBody>
      </p:sp>
      <p:sp>
        <p:nvSpPr>
          <p:cNvPr id="3" name="cover-subtitle">
            <a:extLst xmlns:a="http://schemas.openxmlformats.org/drawingml/2006/main">
              <a:ext uri="{FF2B5EF4-FFF2-40B4-BE49-F238E27FC236}">
                <a16:creationId xmlns:a16="http://schemas.microsoft.com/office/drawing/2014/main" id="{A616F3F0-20B9-4038-8E51-F0CD17EF020B}"/>
              </a:ext>
            </a:extLst>
          </p:cNvPr>
          <p:cNvSpPr>
            <a:spLocks xmlns:a="http://schemas.openxmlformats.org/drawingml/2006/main" noGrp="1"/>
          </p:cNvSpPr>
          <p:nvPr/>
        </p:nvSpPr>
        <p:spPr>
          <a:xfrm xmlns:a="http://schemas.openxmlformats.org/drawingml/2006/main">
            <a:off x="400050" y="4762500"/>
            <a:ext cx="8096250" cy="51435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Arial"/>
                <a:ea typeface="Arial"/>
                <a:cs typeface="Arial"/>
              </a:defRPr>
            </a:pPr>
            <a:r>
              <a:t>SEND campus energy data | 17 September 2026</a:t>
            </a:r>
          </a:p>
        </p:txBody>
      </p:sp>
      <p:sp>
        <p:nvSpPr>
          <p:cNvPr id="5" name="repository-link">
            <a:extLst xmlns:a="http://schemas.openxmlformats.org/drawingml/2006/main">
              <a:ext uri="{FF2B5EF4-FFF2-40B4-BE49-F238E27FC236}">
                <a16:creationId xmlns:a16="http://schemas.microsoft.com/office/drawing/2014/main" id="{AAA68470-EF1B-4DDB-A7BE-23E80383D651}"/>
              </a:ext>
            </a:extLst>
          </p:cNvPr>
          <p:cNvSpPr>
            <a:spLocks xmlns:a="http://schemas.openxmlformats.org/drawingml/2006/main" noGrp="1"/>
          </p:cNvSpPr>
          <p:nvPr/>
        </p:nvSpPr>
        <p:spPr>
          <a:xfrm xmlns:a="http://schemas.openxmlformats.org/drawingml/2006/main">
            <a:off x="400050" y="5410200"/>
            <a:ext cx="11391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000000"/>
                </a:solidFill>
              </a:defRPr>
            </a:pPr>
            <a:r>
              <a:rPr sz="2400" b="1">
                <a:solidFill>
                  <a:srgbClr val="000000"/>
                </a:solidFill>
              </a:rPr>
              <a:t>github.com/SENDatKeele/ERA-event</a:t>
            </a:r>
          </a:p>
        </p:txBody>
      </p:sp>
      <p:sp>
        <p:nvSpPr>
          <p:cNvPr id="6" name="repository-guide">
            <a:extLst xmlns:a="http://schemas.openxmlformats.org/drawingml/2006/main">
              <a:ext uri="{FF2B5EF4-FFF2-40B4-BE49-F238E27FC236}">
                <a16:creationId xmlns:a16="http://schemas.microsoft.com/office/drawing/2014/main" id="{AC98427C-1E43-4746-8BFC-AC788903C767}"/>
              </a:ext>
            </a:extLst>
          </p:cNvPr>
          <p:cNvSpPr>
            <a:spLocks xmlns:a="http://schemas.openxmlformats.org/drawingml/2006/main" noGrp="1"/>
          </p:cNvSpPr>
          <p:nvPr/>
        </p:nvSpPr>
        <p:spPr>
          <a:xfrm xmlns:a="http://schemas.openxmlformats.org/drawingml/2006/main">
            <a:off x="400050" y="5972175"/>
            <a:ext cx="11391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000000"/>
                </a:solidFill>
              </a:defRPr>
            </a:pPr>
            <a:r>
              <a:rPr sz="1725" b="0">
                <a:solidFill>
                  <a:srgbClr val="000000"/>
                </a:solidFill>
              </a:rPr>
              <a:t>Start with README.md and TASK.md. CSV files and the data dictionary are in data/.</a:t>
            </a:r>
          </a:p>
        </p:txBody>
      </p:sp>
    </p:spTree>
    <p:extLst>
      <p:ext uri="{BB962C8B-B14F-4D97-AF65-F5344CB8AC3E}">
        <p14:creationId xmlns:p14="http://schemas.microsoft.com/office/powerpoint/2010/main" val="20779957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cover-eyebrow">
            <a:extLst xmlns:a="http://schemas.openxmlformats.org/drawingml/2006/main">
              <a:ext uri="{FF2B5EF4-FFF2-40B4-BE49-F238E27FC236}">
                <a16:creationId xmlns:a16="http://schemas.microsoft.com/office/drawing/2014/main" id="{A1CC4825-7955-4BF3-B1B4-690D5A13703C}"/>
              </a:ext>
            </a:extLst>
          </p:cNvPr>
          <p:cNvSpPr>
            <a:spLocks xmlns:a="http://schemas.openxmlformats.org/drawingml/2006/main" noGrp="1"/>
          </p:cNvSpPr>
          <p:nvPr/>
        </p:nvSpPr>
        <p:spPr>
          <a:xfrm xmlns:a="http://schemas.openxmlformats.org/drawingml/2006/main">
            <a:off x="400050" y="400050"/>
            <a:ext cx="5715000" cy="5143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lgn="l">
              <a:buNone/>
              <a:defRPr sz="1800" b="1">
                <a:solidFill>
                  <a:srgbClr val="000000"/>
                </a:solidFill>
                <a:latin typeface="Arial"/>
                <a:ea typeface="Arial"/>
                <a:cs typeface="Arial"/>
              </a:defRPr>
            </a:pPr>
            <a:r>
              <a:t>Main question</a:t>
            </a:r>
          </a:p>
        </p:txBody>
      </p:sp>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When does generation exceed demand?</a:t>
            </a:r>
          </a:p>
        </p:txBody>
      </p:sp>
    </p:spTree>
    <p:extLst>
      <p:ext uri="{BB962C8B-B14F-4D97-AF65-F5344CB8AC3E}">
        <p14:creationId xmlns:p14="http://schemas.microsoft.com/office/powerpoint/2010/main" val="20779957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ata-title">
            <a:extLst xmlns:a="http://schemas.openxmlformats.org/drawingml/2006/main">
              <a:ext uri="{FF2B5EF4-FFF2-40B4-BE49-F238E27FC236}">
                <a16:creationId xmlns:a16="http://schemas.microsoft.com/office/drawing/2014/main" id="{230C7CD0-3079-48D2-BD87-ABA225F1593D}"/>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The dataset</a:t>
            </a:r>
            <a:endParaRPr/>
          </a:p>
        </p:txBody>
      </p:sp>
      <p:sp>
        <p:nvSpPr>
          <p:cNvPr id="2" name="data-summary">
            <a:extLst xmlns:a="http://schemas.openxmlformats.org/drawingml/2006/main">
              <a:ext uri="{FF2B5EF4-FFF2-40B4-BE49-F238E27FC236}">
                <a16:creationId xmlns:a16="http://schemas.microsoft.com/office/drawing/2014/main" id="{E1196E17-F51D-4F6C-8146-F784BB94C4E6}"/>
              </a:ext>
            </a:extLst>
          </p:cNvPr>
          <p:cNvSpPr>
            <a:spLocks xmlns:a="http://schemas.openxmlformats.org/drawingml/2006/main" noGrp="1"/>
          </p:cNvSpPr>
          <p:nvPr/>
        </p:nvSpPr>
        <p:spPr>
          <a:xfrm xmlns:a="http://schemas.openxmlformats.org/drawingml/2006/main">
            <a:off x="400050" y="1162050"/>
            <a:ext cx="11391900" cy="5715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t>Three annual CSV files cover 2023, 2024 and 2025. Each row covers five minutes.</a:t>
            </a:r>
          </a:p>
        </p:txBody>
      </p:sp>
      <p:sp>
        <p:nvSpPr>
          <p:cNvPr id="3" name="data-provenance">
            <a:extLst xmlns:a="http://schemas.openxmlformats.org/drawingml/2006/main">
              <a:ext uri="{FF2B5EF4-FFF2-40B4-BE49-F238E27FC236}">
                <a16:creationId xmlns:a16="http://schemas.microsoft.com/office/drawing/2014/main" id="{7F302E83-D826-4E3E-B1F3-FC5FFA3270B5}"/>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350">
                <a:solidFill>
                  <a:srgbClr val="000000"/>
                </a:solidFill>
                <a:latin typeface="Arial"/>
                <a:ea typeface="Arial"/>
                <a:cs typeface="Arial"/>
              </a:defRPr>
            </a:pPr>
            <a:r>
              <a:t>2023 is reviewed and repaired. 2024 and 2025 are reconstructed. Compare years with care.</a:t>
            </a:r>
          </a:p>
        </p:txBody>
      </p:sp>
      <p:graphicFrame>
        <p:nvGraphicFramePr>
          <p:cNvPr id="11" name="Table 8"/>
          <p:cNvGraphicFramePr/>
          <p:nvPr/>
        </p:nvGraphicFramePr>
        <p:xfrm>
          <a:off xmlns:a="http://schemas.openxmlformats.org/drawingml/2006/main" x="400050" y="2047875"/>
          <a:ext xmlns:a="http://schemas.openxmlformats.org/drawingml/2006/main" cx="11391900" cy="3429000"/>
        </p:xfrm>
        <a:graphic xmlns:a="http://schemas.openxmlformats.org/drawingml/2006/main">
          <a:graphicData uri="http://schemas.openxmlformats.org/drawingml/2006/table">
            <a:tbl>
              <a:tblPr/>
              <a:tblGrid>
                <a:gridCol w="3143250"/>
                <a:gridCol w="6667500"/>
                <a:gridCol w="1581150"/>
              </a:tblGrid>
              <a:tr h="685800">
                <a:tc>
                  <a:txBody>
                    <a:bodyPr/>
                    <a:lstStyle/>
                    <a:p>
                      <a:r>
                        <a:rPr sz="1650" b="1">
                          <a:solidFill>
                            <a:srgbClr val="000000"/>
                          </a:solidFill>
                        </a:rPr>
                        <a:t>Column</a:t>
                      </a:r>
                    </a:p>
                  </a:txBody>
                  <a:tcPr marL="91440" marR="91440" marT="45720" marB="45720">
                    <a:solidFill>
                      <a:srgbClr val="D0EDFA"/>
                    </a:solidFill>
                  </a:tcPr>
                </a:tc>
                <a:tc>
                  <a:txBody>
                    <a:bodyPr/>
                    <a:lstStyle/>
                    <a:p>
                      <a:r>
                        <a:rPr sz="1650" b="1">
                          <a:solidFill>
                            <a:srgbClr val="000000"/>
                          </a:solidFill>
                        </a:rPr>
                        <a:t>Plain meaning</a:t>
                      </a:r>
                    </a:p>
                  </a:txBody>
                  <a:tcPr marL="91440" marR="91440" marT="45720" marB="45720">
                    <a:solidFill>
                      <a:srgbClr val="D0EDFA"/>
                    </a:solidFill>
                  </a:tcPr>
                </a:tc>
                <a:tc>
                  <a:txBody>
                    <a:bodyPr/>
                    <a:lstStyle/>
                    <a:p>
                      <a:r>
                        <a:rPr sz="1650" b="1">
                          <a:solidFill>
                            <a:srgbClr val="000000"/>
                          </a:solidFill>
                        </a:rPr>
                        <a:t>Unit</a:t>
                      </a:r>
                    </a:p>
                  </a:txBody>
                  <a:tcPr marL="91440" marR="91440" marT="45720" marB="45720">
                    <a:solidFill>
                      <a:srgbClr val="D0EDFA"/>
                    </a:solidFill>
                  </a:tcPr>
                </a:tc>
              </a:tr>
              <a:tr h="685800">
                <a:tc>
                  <a:txBody>
                    <a:bodyPr/>
                    <a:lstStyle/>
                    <a:p>
                      <a:r>
                        <a:rPr sz="1650">
                          <a:solidFill>
                            <a:srgbClr val="000000"/>
                          </a:solidFill>
                        </a:rPr>
                        <a:t>DateTime</a:t>
                      </a:r>
                    </a:p>
                  </a:txBody>
                  <a:tcPr marL="91440" marR="91440" marT="45720" marB="45720">
                    <a:solidFill>
                      <a:srgbClr val="FFFFFF"/>
                    </a:solidFill>
                  </a:tcPr>
                </a:tc>
                <a:tc>
                  <a:txBody>
                    <a:bodyPr/>
                    <a:lstStyle/>
                    <a:p>
                      <a:r>
                        <a:rPr sz="1650">
                          <a:solidFill>
                            <a:srgbClr val="000000"/>
                          </a:solidFill>
                        </a:rPr>
                        <a:t>Date and time</a:t>
                      </a:r>
                    </a:p>
                  </a:txBody>
                  <a:tcPr marL="91440" marR="91440" marT="45720" marB="45720">
                    <a:solidFill>
                      <a:srgbClr val="FFFFFF"/>
                    </a:solidFill>
                  </a:tcPr>
                </a:tc>
                <a:tc>
                  <a:txBody>
                    <a:bodyPr/>
                    <a:lstStyle/>
                    <a:p>
                      <a:r>
                        <a:t>Date/time</a:t>
                      </a:r>
                      <a:endParaRPr/>
                    </a:p>
                  </a:txBody>
                  <a:tcPr marL="91440" marR="91440" marT="45720" marB="45720">
                    <a:solidFill>
                      <a:srgbClr val="FFFFFF"/>
                    </a:solidFill>
                  </a:tcPr>
                </a:tc>
              </a:tr>
              <a:tr h="685800">
                <a:tc>
                  <a:txBody>
                    <a:bodyPr/>
                    <a:lstStyle/>
                    <a:p>
                      <a:r>
                        <a:rPr sz="1650">
                          <a:solidFill>
                            <a:srgbClr val="000000"/>
                          </a:solidFill>
                        </a:rPr>
                        <a:t>power-con-ave</a:t>
                      </a:r>
                    </a:p>
                  </a:txBody>
                  <a:tcPr marL="91440" marR="91440" marT="45720" marB="45720">
                    <a:solidFill>
                      <a:srgbClr val="EDEDED"/>
                    </a:solidFill>
                  </a:tcPr>
                </a:tc>
                <a:tc>
                  <a:txBody>
                    <a:bodyPr/>
                    <a:lstStyle/>
                    <a:p>
                      <a:r>
                        <a:rPr sz="1650">
                          <a:solidFill>
                            <a:srgbClr val="000000"/>
                          </a:solidFill>
                        </a:rPr>
                        <a:t>Campus electricity consumption</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r h="685800">
                <a:tc>
                  <a:txBody>
                    <a:bodyPr/>
                    <a:lstStyle/>
                    <a:p>
                      <a:r>
                        <a:rPr sz="1650">
                          <a:solidFill>
                            <a:srgbClr val="000000"/>
                          </a:solidFill>
                        </a:rPr>
                        <a:t>power-gen-wt-ave</a:t>
                      </a:r>
                    </a:p>
                  </a:txBody>
                  <a:tcPr marL="91440" marR="91440" marT="45720" marB="45720">
                    <a:solidFill>
                      <a:srgbClr val="FFFFFF"/>
                    </a:solidFill>
                  </a:tcPr>
                </a:tc>
                <a:tc>
                  <a:txBody>
                    <a:bodyPr/>
                    <a:lstStyle/>
                    <a:p>
                      <a:r>
                        <a:rPr sz="1650">
                          <a:solidFill>
                            <a:srgbClr val="000000"/>
                          </a:solidFill>
                        </a:rPr>
                        <a:t>Wind-turbine generation</a:t>
                      </a:r>
                    </a:p>
                  </a:txBody>
                  <a:tcPr marL="91440" marR="91440" marT="45720" marB="45720">
                    <a:solidFill>
                      <a:srgbClr val="FFFFFF"/>
                    </a:solidFill>
                  </a:tcPr>
                </a:tc>
                <a:tc>
                  <a:txBody>
                    <a:bodyPr/>
                    <a:lstStyle/>
                    <a:p>
                      <a:r>
                        <a:rPr sz="1650">
                          <a:solidFill>
                            <a:srgbClr val="000000"/>
                          </a:solidFill>
                        </a:rPr>
                        <a:t>kW</a:t>
                      </a:r>
                    </a:p>
                  </a:txBody>
                  <a:tcPr marL="91440" marR="91440" marT="45720" marB="45720">
                    <a:solidFill>
                      <a:srgbClr val="FFFFFF"/>
                    </a:solidFill>
                  </a:tcPr>
                </a:tc>
              </a:tr>
              <a:tr h="685800">
                <a:tc>
                  <a:txBody>
                    <a:bodyPr/>
                    <a:lstStyle/>
                    <a:p>
                      <a:r>
                        <a:rPr sz="1650">
                          <a:solidFill>
                            <a:srgbClr val="000000"/>
                          </a:solidFill>
                        </a:rPr>
                        <a:t>power-gen-pv-ave</a:t>
                      </a:r>
                    </a:p>
                  </a:txBody>
                  <a:tcPr marL="91440" marR="91440" marT="45720" marB="45720">
                    <a:solidFill>
                      <a:srgbClr val="EDEDED"/>
                    </a:solidFill>
                  </a:tcPr>
                </a:tc>
                <a:tc>
                  <a:txBody>
                    <a:bodyPr/>
                    <a:lstStyle/>
                    <a:p>
                      <a:r>
                        <a:rPr sz="1650">
                          <a:solidFill>
                            <a:srgbClr val="000000"/>
                          </a:solidFill>
                        </a:rPr>
                        <a:t>Solar generation</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bl>
          </a:graphicData>
        </a:graphic>
      </p:graphicFrame>
      <p:sp>
        <p:nvSpPr>
          <p:cNvPr id="5" name="slide-2-number-text">
            <a:extLst xmlns:a="http://schemas.openxmlformats.org/drawingml/2006/main">
              <a:ext uri="{FF2B5EF4-FFF2-40B4-BE49-F238E27FC236}">
                <a16:creationId xmlns:a16="http://schemas.microsoft.com/office/drawing/2014/main" id="{49940877-A1AF-4AAE-850C-7BF0F6200DF6}"/>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3</a:t>
            </a:r>
          </a:p>
        </p:txBody>
      </p:sp>
    </p:spTree>
    <p:extLst>
      <p:ext uri="{BB962C8B-B14F-4D97-AF65-F5344CB8AC3E}">
        <p14:creationId xmlns:p14="http://schemas.microsoft.com/office/powerpoint/2010/main" val="12432043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ata-title">
            <a:extLst xmlns:a="http://schemas.openxmlformats.org/drawingml/2006/main">
              <a:ext uri="{FF2B5EF4-FFF2-40B4-BE49-F238E27FC236}">
                <a16:creationId xmlns:a16="http://schemas.microsoft.com/office/drawing/2014/main" id="{230C7CD0-3079-48D2-BD87-ABA225F1593D}"/>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Power and energy</a:t>
            </a:r>
            <a:endParaRPr/>
          </a:p>
        </p:txBody>
      </p:sp>
      <p:sp>
        <p:nvSpPr>
          <p:cNvPr id="2" name="data-summary">
            <a:extLst xmlns:a="http://schemas.openxmlformats.org/drawingml/2006/main">
              <a:ext uri="{FF2B5EF4-FFF2-40B4-BE49-F238E27FC236}">
                <a16:creationId xmlns:a16="http://schemas.microsoft.com/office/drawing/2014/main" id="{E1196E17-F51D-4F6C-8146-F784BB94C4E6}"/>
              </a:ext>
            </a:extLst>
          </p:cNvPr>
          <p:cNvSpPr>
            <a:spLocks xmlns:a="http://schemas.openxmlformats.org/drawingml/2006/main" noGrp="1"/>
          </p:cNvSpPr>
          <p:nvPr/>
        </p:nvSpPr>
        <p:spPr>
          <a:xfrm xmlns:a="http://schemas.openxmlformats.org/drawingml/2006/main">
            <a:off x="400050" y="1162050"/>
            <a:ext cx="11391900" cy="5715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t>Each row is a five-minute average power reading. Energy accumulates over time.</a:t>
            </a:r>
          </a:p>
        </p:txBody>
      </p:sp>
      <p:sp>
        <p:nvSpPr>
          <p:cNvPr id="3" name="data-provenance">
            <a:extLst xmlns:a="http://schemas.openxmlformats.org/drawingml/2006/main">
              <a:ext uri="{FF2B5EF4-FFF2-40B4-BE49-F238E27FC236}">
                <a16:creationId xmlns:a16="http://schemas.microsoft.com/office/drawing/2014/main" id="{7F302E83-D826-4E3E-B1F3-FC5FFA3270B5}"/>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350">
                <a:solidFill>
                  <a:srgbClr val="000000"/>
                </a:solidFill>
                <a:latin typeface="Arial"/>
                <a:ea typeface="Arial"/>
                <a:cs typeface="Arial"/>
              </a:defRPr>
            </a:pPr>
            <a:r>
              <a:t>For five-minute data: energy in MWh = sum of kW readings / 12,000.</a:t>
            </a:r>
          </a:p>
        </p:txBody>
      </p:sp>
      <p:graphicFrame>
        <p:nvGraphicFramePr>
          <p:cNvPr id="11" name="Table 8"/>
          <p:cNvGraphicFramePr/>
          <p:nvPr/>
        </p:nvGraphicFramePr>
        <p:xfrm>
          <a:off xmlns:a="http://schemas.openxmlformats.org/drawingml/2006/main" x="400050" y="2047875"/>
          <a:ext xmlns:a="http://schemas.openxmlformats.org/drawingml/2006/main" cx="11391900" cy="3429000"/>
        </p:xfrm>
        <a:graphic xmlns:a="http://schemas.openxmlformats.org/drawingml/2006/main">
          <a:graphicData uri="http://schemas.openxmlformats.org/drawingml/2006/table">
            <a:tbl>
              <a:tblPr/>
              <a:tblGrid>
                <a:gridCol w="3143250"/>
                <a:gridCol w="6667500"/>
                <a:gridCol w="1581150"/>
              </a:tblGrid>
              <a:tr h="685800">
                <a:tc>
                  <a:txBody>
                    <a:bodyPr/>
                    <a:lstStyle/>
                    <a:p>
                      <a:r>
                        <a:rPr sz="1650" b="1">
                          <a:solidFill>
                            <a:srgbClr val="000000"/>
                          </a:solidFill>
                        </a:rPr>
                        <a:t>Measure</a:t>
                      </a:r>
                    </a:p>
                  </a:txBody>
                  <a:tcPr marL="91440" marR="91440" marT="45720" marB="45720">
                    <a:solidFill>
                      <a:srgbClr val="D0EDFA"/>
                    </a:solidFill>
                  </a:tcPr>
                </a:tc>
                <a:tc>
                  <a:txBody>
                    <a:bodyPr/>
                    <a:lstStyle/>
                    <a:p>
                      <a:r>
                        <a:rPr sz="1650" b="1">
                          <a:solidFill>
                            <a:srgbClr val="000000"/>
                          </a:solidFill>
                        </a:rPr>
                        <a:t>Plain meaning</a:t>
                      </a:r>
                    </a:p>
                  </a:txBody>
                  <a:tcPr marL="91440" marR="91440" marT="45720" marB="45720">
                    <a:solidFill>
                      <a:srgbClr val="D0EDFA"/>
                    </a:solidFill>
                  </a:tcPr>
                </a:tc>
                <a:tc>
                  <a:txBody>
                    <a:bodyPr/>
                    <a:lstStyle/>
                    <a:p>
                      <a:r>
                        <a:rPr sz="1650" b="1">
                          <a:solidFill>
                            <a:srgbClr val="000000"/>
                          </a:solidFill>
                        </a:rPr>
                        <a:t>Unit</a:t>
                      </a:r>
                    </a:p>
                  </a:txBody>
                  <a:tcPr marL="91440" marR="91440" marT="45720" marB="45720">
                    <a:solidFill>
                      <a:srgbClr val="D0EDFA"/>
                    </a:solidFill>
                  </a:tcPr>
                </a:tc>
              </a:tr>
              <a:tr h="685800">
                <a:tc>
                  <a:txBody>
                    <a:bodyPr/>
                    <a:lstStyle/>
                    <a:p>
                      <a:r>
                        <a:rPr sz="1650">
                          <a:solidFill>
                            <a:srgbClr val="000000"/>
                          </a:solidFill>
                        </a:rPr>
                        <a:t>Power</a:t>
                      </a:r>
                    </a:p>
                  </a:txBody>
                  <a:tcPr marL="91440" marR="91440" marT="45720" marB="45720">
                    <a:solidFill>
                      <a:srgbClr val="FFFFFF"/>
                    </a:solidFill>
                  </a:tcPr>
                </a:tc>
                <a:tc>
                  <a:txBody>
                    <a:bodyPr/>
                    <a:lstStyle/>
                    <a:p>
                      <a:r>
                        <a:rPr sz="1650">
                          <a:solidFill>
                            <a:srgbClr val="000000"/>
                          </a:solidFill>
                        </a:rPr>
                        <a:t>Rate of electricity use or generation</a:t>
                      </a:r>
                    </a:p>
                  </a:txBody>
                  <a:tcPr marL="91440" marR="91440" marT="45720" marB="45720">
                    <a:solidFill>
                      <a:srgbClr val="FFFFFF"/>
                    </a:solidFill>
                  </a:tcPr>
                </a:tc>
                <a:tc>
                  <a:txBody>
                    <a:bodyPr/>
                    <a:lstStyle/>
                    <a:p>
                      <a:r>
                        <a:t>kW</a:t>
                      </a:r>
                      <a:endParaRPr/>
                    </a:p>
                  </a:txBody>
                  <a:tcPr marL="91440" marR="91440" marT="45720" marB="45720">
                    <a:solidFill>
                      <a:srgbClr val="FFFFFF"/>
                    </a:solidFill>
                  </a:tcPr>
                </a:tc>
              </a:tr>
              <a:tr h="685800">
                <a:tc>
                  <a:txBody>
                    <a:bodyPr/>
                    <a:lstStyle/>
                    <a:p>
                      <a:r>
                        <a:rPr sz="1650">
                          <a:solidFill>
                            <a:srgbClr val="000000"/>
                          </a:solidFill>
                        </a:rPr>
                        <a:t>Energy</a:t>
                      </a:r>
                    </a:p>
                  </a:txBody>
                  <a:tcPr marL="91440" marR="91440" marT="45720" marB="45720">
                    <a:solidFill>
                      <a:srgbClr val="EDEDED"/>
                    </a:solidFill>
                  </a:tcPr>
                </a:tc>
                <a:tc>
                  <a:txBody>
                    <a:bodyPr/>
                    <a:lstStyle/>
                    <a:p>
                      <a:r>
                        <a:rPr sz="1650">
                          <a:solidFill>
                            <a:srgbClr val="000000"/>
                          </a:solidFill>
                        </a:rPr>
                        <a:t>Power accumulated over time</a:t>
                      </a:r>
                    </a:p>
                  </a:txBody>
                  <a:tcPr marL="91440" marR="91440" marT="45720" marB="45720">
                    <a:solidFill>
                      <a:srgbClr val="EDEDED"/>
                    </a:solidFill>
                  </a:tcPr>
                </a:tc>
                <a:tc>
                  <a:txBody>
                    <a:bodyPr/>
                    <a:lstStyle/>
                    <a:p>
                      <a:r>
                        <a:rPr sz="1650">
                          <a:solidFill>
                            <a:srgbClr val="000000"/>
                          </a:solidFill>
                        </a:rPr>
                        <a:t>MWh</a:t>
                      </a:r>
                    </a:p>
                  </a:txBody>
                  <a:tcPr marL="91440" marR="91440" marT="45720" marB="45720">
                    <a:solidFill>
                      <a:srgbClr val="EDEDED"/>
                    </a:solidFill>
                  </a:tcPr>
                </a:tc>
              </a:tr>
              <a:tr h="685800">
                <a:tc>
                  <a:txBody>
                    <a:bodyPr/>
                    <a:lstStyle/>
                    <a:p>
                      <a:r>
                        <a:rPr sz="1650">
                          <a:solidFill>
                            <a:srgbClr val="000000"/>
                          </a:solidFill>
                        </a:rPr>
                        <a:t>Balance</a:t>
                      </a:r>
                    </a:p>
                  </a:txBody>
                  <a:tcPr marL="91440" marR="91440" marT="45720" marB="45720">
                    <a:solidFill>
                      <a:srgbClr val="FFFFFF"/>
                    </a:solidFill>
                  </a:tcPr>
                </a:tc>
                <a:tc>
                  <a:txBody>
                    <a:bodyPr/>
                    <a:lstStyle/>
                    <a:p>
                      <a:r>
                        <a:rPr sz="1650">
                          <a:solidFill>
                            <a:srgbClr val="000000"/>
                          </a:solidFill>
                        </a:rPr>
                        <a:t>Generation minus consumption</a:t>
                      </a:r>
                    </a:p>
                  </a:txBody>
                  <a:tcPr marL="91440" marR="91440" marT="45720" marB="45720">
                    <a:solidFill>
                      <a:srgbClr val="FFFFFF"/>
                    </a:solidFill>
                  </a:tcPr>
                </a:tc>
                <a:tc>
                  <a:txBody>
                    <a:bodyPr/>
                    <a:lstStyle/>
                    <a:p>
                      <a:r>
                        <a:rPr sz="1650">
                          <a:solidFill>
                            <a:srgbClr val="000000"/>
                          </a:solidFill>
                        </a:rPr>
                        <a:t>kW</a:t>
                      </a:r>
                    </a:p>
                  </a:txBody>
                  <a:tcPr marL="91440" marR="91440" marT="45720" marB="45720">
                    <a:solidFill>
                      <a:srgbClr val="FFFFFF"/>
                    </a:solidFill>
                  </a:tcPr>
                </a:tc>
              </a:tr>
              <a:tr h="685800">
                <a:tc>
                  <a:txBody>
                    <a:bodyPr/>
                    <a:lstStyle/>
                    <a:p>
                      <a:r>
                        <a:rPr sz="1650">
                          <a:solidFill>
                            <a:srgbClr val="000000"/>
                          </a:solidFill>
                        </a:rPr>
                        <a:t>Excess</a:t>
                      </a:r>
                    </a:p>
                  </a:txBody>
                  <a:tcPr marL="91440" marR="91440" marT="45720" marB="45720">
                    <a:solidFill>
                      <a:srgbClr val="EDEDED"/>
                    </a:solidFill>
                  </a:tcPr>
                </a:tc>
                <a:tc>
                  <a:txBody>
                    <a:bodyPr/>
                    <a:lstStyle/>
                    <a:p>
                      <a:r>
                        <a:rPr sz="1650">
                          <a:solidFill>
                            <a:srgbClr val="000000"/>
                          </a:solidFill>
                        </a:rPr>
                        <a:t>The positive part of the balance</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bl>
          </a:graphicData>
        </a:graphic>
      </p:graphicFrame>
      <p:sp>
        <p:nvSpPr>
          <p:cNvPr id="5" name="slide-2-number-text">
            <a:extLst xmlns:a="http://schemas.openxmlformats.org/drawingml/2006/main">
              <a:ext uri="{FF2B5EF4-FFF2-40B4-BE49-F238E27FC236}">
                <a16:creationId xmlns:a16="http://schemas.microsoft.com/office/drawing/2014/main" id="{49940877-A1AF-4AAE-850C-7BF0F6200DF6}"/>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4</a:t>
            </a:r>
          </a:p>
        </p:txBody>
      </p:sp>
    </p:spTree>
    <p:extLst>
      <p:ext uri="{BB962C8B-B14F-4D97-AF65-F5344CB8AC3E}">
        <p14:creationId xmlns:p14="http://schemas.microsoft.com/office/powerpoint/2010/main" val="12432043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Data exploration</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Use VS Plotter by Rafael Arvelo. No coding needed. Steps are in TASK.md.</a:t>
            </a:r>
          </a:p>
        </p:txBody>
      </p:sp>
      <p:graphicFrame>
        <p:nvGraphicFramePr>
          <p:cNvPr id="10"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01</a:t>
                      </a:r>
                    </a:p>
                  </a:txBody>
                  <a:tcPr marL="91440" marR="91440" marT="45720" marB="45720">
                    <a:solidFill>
                      <a:srgbClr val="EDEDED"/>
                    </a:solidFill>
                  </a:tcPr>
                </a:tc>
                <a:tc>
                  <a:txBody>
                    <a:bodyPr/>
                    <a:lstStyle/>
                    <a:p>
                      <a:r>
                        <a:rPr sz="1650">
                          <a:solidFill>
                            <a:srgbClr val="000000"/>
                          </a:solidFill>
                        </a:rPr>
                        <a:t>Open one annual CSV. Check the columns, units and dates.</a:t>
                      </a:r>
                    </a:p>
                  </a:txBody>
                  <a:tcPr marL="91440" marR="91440" marT="45720" marB="45720">
                    <a:solidFill>
                      <a:srgbClr val="EDEDED"/>
                    </a:solidFill>
                  </a:tcPr>
                </a:tc>
              </a:tr>
              <a:tr h="809625">
                <a:tc>
                  <a:txBody>
                    <a:bodyPr/>
                    <a:lstStyle/>
                    <a:p>
                      <a:r>
                        <a:rPr sz="1650" b="1">
                          <a:solidFill>
                            <a:srgbClr val="000000"/>
                          </a:solidFill>
                        </a:rPr>
                        <a:t>02</a:t>
                      </a:r>
                    </a:p>
                  </a:txBody>
                  <a:tcPr marL="91440" marR="91440" marT="45720" marB="45720">
                    <a:solidFill>
                      <a:srgbClr val="FFFFFF"/>
                    </a:solidFill>
                  </a:tcPr>
                </a:tc>
                <a:tc>
                  <a:txBody>
                    <a:bodyPr/>
                    <a:lstStyle/>
                    <a:p>
                      <a:r>
                        <a:rPr sz="1650">
                          <a:solidFill>
                            <a:srgbClr val="000000"/>
                          </a:solidFill>
                        </a:rPr>
                        <a:t>Plot consumption, wind and solar for one day or week.</a:t>
                      </a:r>
                    </a:p>
                  </a:txBody>
                  <a:tcPr marL="91440" marR="91440" marT="45720" marB="45720">
                    <a:solidFill>
                      <a:srgbClr val="FFFFFF"/>
                    </a:solidFill>
                  </a:tcPr>
                </a:tc>
              </a:tr>
              <a:tr h="809625">
                <a:tc>
                  <a:txBody>
                    <a:bodyPr/>
                    <a:lstStyle/>
                    <a:p>
                      <a:r>
                        <a:rPr sz="1650" b="1">
                          <a:solidFill>
                            <a:srgbClr val="000000"/>
                          </a:solidFill>
                        </a:rPr>
                        <a:t>03</a:t>
                      </a:r>
                    </a:p>
                  </a:txBody>
                  <a:tcPr marL="91440" marR="91440" marT="45720" marB="45720">
                    <a:solidFill>
                      <a:srgbClr val="EDEDED"/>
                    </a:solidFill>
                  </a:tcPr>
                </a:tc>
                <a:tc>
                  <a:txBody>
                    <a:bodyPr/>
                    <a:lstStyle/>
                    <a:p>
                      <a:r>
                        <a:rPr sz="1650">
                          <a:solidFill>
                            <a:srgbClr val="000000"/>
                          </a:solidFill>
                        </a:rPr>
                        <a:t>Note one pattern that looks reasonable.</a:t>
                      </a:r>
                    </a:p>
                  </a:txBody>
                  <a:tcPr marL="91440" marR="91440" marT="45720" marB="45720">
                    <a:solidFill>
                      <a:srgbClr val="EDEDED"/>
                    </a:solidFill>
                  </a:tcPr>
                </a:tc>
              </a:tr>
              <a:tr h="809625">
                <a:tc>
                  <a:txBody>
                    <a:bodyPr/>
                    <a:lstStyle/>
                    <a:p>
                      <a:r>
                        <a:rPr sz="1650" b="1">
                          <a:solidFill>
                            <a:srgbClr val="000000"/>
                          </a:solidFill>
                        </a:rPr>
                        <a:t>04</a:t>
                      </a:r>
                    </a:p>
                  </a:txBody>
                  <a:tcPr marL="91440" marR="91440" marT="45720" marB="45720">
                    <a:solidFill>
                      <a:srgbClr val="FFFFFF"/>
                    </a:solidFill>
                  </a:tcPr>
                </a:tc>
                <a:tc>
                  <a:txBody>
                    <a:bodyPr/>
                    <a:lstStyle/>
                    <a:p>
                      <a:r>
                        <a:rPr sz="1650">
                          <a:solidFill>
                            <a:srgbClr val="000000"/>
                          </a:solidFill>
                        </a:rPr>
                        <a:t>Note one feature you would check before relying on it.</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5</a:t>
            </a:r>
          </a:p>
        </p:txBody>
      </p:sp>
    </p:spTree>
    <p:extLst>
      <p:ext uri="{BB962C8B-B14F-4D97-AF65-F5344CB8AC3E}">
        <p14:creationId xmlns:p14="http://schemas.microsoft.com/office/powerpoint/2010/main" val="322785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Challenge options</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State your assumptions. A careful limitation is part of a strong answer.</a:t>
            </a:r>
          </a:p>
        </p:txBody>
      </p:sp>
      <p:graphicFrame>
        <p:nvGraphicFramePr>
          <p:cNvPr id="10"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02</a:t>
                      </a:r>
                    </a:p>
                  </a:txBody>
                  <a:tcPr marL="91440" marR="91440" marT="45720" marB="45720">
                    <a:solidFill>
                      <a:srgbClr val="EDEDED"/>
                    </a:solidFill>
                  </a:tcPr>
                </a:tc>
                <a:tc>
                  <a:txBody>
                    <a:bodyPr/>
                    <a:lstStyle/>
                    <a:p>
                      <a:r>
                        <a:rPr sz="1650">
                          <a:solidFill>
                            <a:srgbClr val="000000"/>
                          </a:solidFill>
                        </a:rPr>
                        <a:t>Compare years: how do demand and renewable generation change?</a:t>
                      </a:r>
                    </a:p>
                  </a:txBody>
                  <a:tcPr marL="91440" marR="91440" marT="45720" marB="45720">
                    <a:solidFill>
                      <a:srgbClr val="EDEDED"/>
                    </a:solidFill>
                  </a:tcPr>
                </a:tc>
              </a:tr>
              <a:tr h="809625">
                <a:tc>
                  <a:txBody>
                    <a:bodyPr/>
                    <a:lstStyle/>
                    <a:p>
                      <a:r>
                        <a:rPr sz="1650" b="1">
                          <a:solidFill>
                            <a:srgbClr val="000000"/>
                          </a:solidFill>
                        </a:rPr>
                        <a:t>03</a:t>
                      </a:r>
                    </a:p>
                  </a:txBody>
                  <a:tcPr marL="91440" marR="91440" marT="45720" marB="45720">
                    <a:solidFill>
                      <a:srgbClr val="FFFFFF"/>
                    </a:solidFill>
                  </a:tcPr>
                </a:tc>
                <a:tc>
                  <a:txBody>
                    <a:bodyPr/>
                    <a:lstStyle/>
                    <a:p>
                      <a:r>
                        <a:rPr sz="1650">
                          <a:solidFill>
                            <a:srgbClr val="000000"/>
                          </a:solidFill>
                        </a:rPr>
                        <a:t>Find excess: when, how often and for how long?</a:t>
                      </a:r>
                    </a:p>
                  </a:txBody>
                  <a:tcPr marL="91440" marR="91440" marT="45720" marB="45720">
                    <a:solidFill>
                      <a:srgbClr val="FFFFFF"/>
                    </a:solidFill>
                  </a:tcPr>
                </a:tc>
              </a:tr>
              <a:tr h="809625">
                <a:tc>
                  <a:txBody>
                    <a:bodyPr/>
                    <a:lstStyle/>
                    <a:p>
                      <a:r>
                        <a:rPr sz="1650" b="1">
                          <a:solidFill>
                            <a:srgbClr val="000000"/>
                          </a:solidFill>
                        </a:rPr>
                        <a:t>04</a:t>
                      </a:r>
                    </a:p>
                  </a:txBody>
                  <a:tcPr marL="91440" marR="91440" marT="45720" marB="45720">
                    <a:solidFill>
                      <a:srgbClr val="EDEDED"/>
                    </a:solidFill>
                  </a:tcPr>
                </a:tc>
                <a:tc>
                  <a:txBody>
                    <a:bodyPr/>
                    <a:lstStyle/>
                    <a:p>
                      <a:r>
                        <a:rPr sz="1650">
                          <a:solidFill>
                            <a:srgbClr val="000000"/>
                          </a:solidFill>
                        </a:rPr>
                        <a:t>Audit zeros: which look expected, and which need checking?</a:t>
                      </a:r>
                    </a:p>
                  </a:txBody>
                  <a:tcPr marL="91440" marR="91440" marT="45720" marB="45720">
                    <a:solidFill>
                      <a:srgbClr val="EDEDED"/>
                    </a:solidFill>
                  </a:tcPr>
                </a:tc>
              </a:tr>
              <a:tr h="809625">
                <a:tc>
                  <a:txBody>
                    <a:bodyPr/>
                    <a:lstStyle/>
                    <a:p>
                      <a:r>
                        <a:rPr sz="1650" b="1">
                          <a:solidFill>
                            <a:srgbClr val="000000"/>
                          </a:solidFill>
                        </a:rPr>
                        <a:t>05</a:t>
                      </a:r>
                    </a:p>
                  </a:txBody>
                  <a:tcPr marL="91440" marR="91440" marT="45720" marB="45720">
                    <a:solidFill>
                      <a:srgbClr val="FFFFFF"/>
                    </a:solidFill>
                  </a:tcPr>
                </a:tc>
                <a:tc>
                  <a:txBody>
                    <a:bodyPr/>
                    <a:lstStyle/>
                    <a:p>
                      <a:r>
                        <a:rPr sz="1650">
                          <a:solidFill>
                            <a:srgbClr val="000000"/>
                          </a:solidFill>
                        </a:rPr>
                        <a:t>Advise Keele: which flexible response fits a recurring surplus?</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6</a:t>
            </a:r>
          </a:p>
        </p:txBody>
      </p:sp>
    </p:spTree>
    <p:extLst>
      <p:ext uri="{BB962C8B-B14F-4D97-AF65-F5344CB8AC3E}">
        <p14:creationId xmlns:p14="http://schemas.microsoft.com/office/powerpoint/2010/main" val="3227858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Group presentation</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One slide, about one minute. Focus on one finding.</a:t>
            </a:r>
          </a:p>
        </p:txBody>
      </p:sp>
      <p:graphicFrame>
        <p:nvGraphicFramePr>
          <p:cNvPr id="10"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01</a:t>
                      </a:r>
                    </a:p>
                  </a:txBody>
                  <a:tcPr marL="91440" marR="91440" marT="45720" marB="45720">
                    <a:solidFill>
                      <a:srgbClr val="EDEDED"/>
                    </a:solidFill>
                  </a:tcPr>
                </a:tc>
                <a:tc>
                  <a:txBody>
                    <a:bodyPr/>
                    <a:lstStyle/>
                    <a:p>
                      <a:r>
                        <a:rPr sz="1650">
                          <a:solidFill>
                            <a:srgbClr val="000000"/>
                          </a:solidFill>
                        </a:rPr>
                        <a:t>One clearly labelled plot</a:t>
                      </a:r>
                    </a:p>
                  </a:txBody>
                  <a:tcPr marL="91440" marR="91440" marT="45720" marB="45720">
                    <a:solidFill>
                      <a:srgbClr val="EDEDED"/>
                    </a:solidFill>
                  </a:tcPr>
                </a:tc>
              </a:tr>
              <a:tr h="809625">
                <a:tc>
                  <a:txBody>
                    <a:bodyPr/>
                    <a:lstStyle/>
                    <a:p>
                      <a:r>
                        <a:rPr sz="1650" b="1">
                          <a:solidFill>
                            <a:srgbClr val="000000"/>
                          </a:solidFill>
                        </a:rPr>
                        <a:t>02</a:t>
                      </a:r>
                    </a:p>
                  </a:txBody>
                  <a:tcPr marL="91440" marR="91440" marT="45720" marB="45720">
                    <a:solidFill>
                      <a:srgbClr val="FFFFFF"/>
                    </a:solidFill>
                  </a:tcPr>
                </a:tc>
                <a:tc>
                  <a:txBody>
                    <a:bodyPr/>
                    <a:lstStyle/>
                    <a:p>
                      <a:r>
                        <a:rPr sz="1650">
                          <a:solidFill>
                            <a:srgbClr val="000000"/>
                          </a:solidFill>
                        </a:rPr>
                        <a:t>One key finding or question from the data</a:t>
                      </a:r>
                    </a:p>
                  </a:txBody>
                  <a:tcPr marL="91440" marR="91440" marT="45720" marB="45720">
                    <a:solidFill>
                      <a:srgbClr val="FFFFFF"/>
                    </a:solidFill>
                  </a:tcPr>
                </a:tc>
              </a:tr>
              <a:tr h="809625">
                <a:tc>
                  <a:txBody>
                    <a:bodyPr/>
                    <a:lstStyle/>
                    <a:p>
                      <a:r>
                        <a:rPr sz="1650" b="1">
                          <a:solidFill>
                            <a:srgbClr val="000000"/>
                          </a:solidFill>
                        </a:rPr>
                        <a:t>03</a:t>
                      </a:r>
                    </a:p>
                  </a:txBody>
                  <a:tcPr marL="91440" marR="91440" marT="45720" marB="45720">
                    <a:solidFill>
                      <a:srgbClr val="EDEDED"/>
                    </a:solidFill>
                  </a:tcPr>
                </a:tc>
                <a:tc>
                  <a:txBody>
                    <a:bodyPr/>
                    <a:lstStyle/>
                    <a:p>
                      <a:r>
                        <a:rPr sz="1650">
                          <a:solidFill>
                            <a:srgbClr val="000000"/>
                          </a:solidFill>
                        </a:rPr>
                        <a:t>Why it matters or how it could be used</a:t>
                      </a:r>
                    </a:p>
                  </a:txBody>
                  <a:tcPr marL="91440" marR="91440" marT="45720" marB="45720">
                    <a:solidFill>
                      <a:srgbClr val="EDEDED"/>
                    </a:solidFill>
                  </a:tcPr>
                </a:tc>
              </a:tr>
              <a:tr h="809625">
                <a:tc>
                  <a:txBody>
                    <a:bodyPr/>
                    <a:lstStyle/>
                    <a:p>
                      <a:r>
                        <a:rPr sz="1650" b="1">
                          <a:solidFill>
                            <a:srgbClr val="000000"/>
                          </a:solidFill>
                        </a:rPr>
                        <a:t>04</a:t>
                      </a:r>
                    </a:p>
                  </a:txBody>
                  <a:tcPr marL="91440" marR="91440" marT="45720" marB="45720">
                    <a:solidFill>
                      <a:srgbClr val="FFFFFF"/>
                    </a:solidFill>
                  </a:tcPr>
                </a:tc>
                <a:tc>
                  <a:txBody>
                    <a:bodyPr/>
                    <a:lstStyle/>
                    <a:p>
                      <a:r>
                        <a:rPr sz="1650">
                          <a:solidFill>
                            <a:srgbClr val="000000"/>
                          </a:solidFill>
                        </a:rPr>
                        <a:t>Any assumption or limitation needed to understand the finding</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7</a:t>
            </a:r>
          </a:p>
        </p:txBody>
      </p:sp>
    </p:spTree>
    <p:extLst>
      <p:ext uri="{BB962C8B-B14F-4D97-AF65-F5344CB8AC3E}">
        <p14:creationId xmlns:p14="http://schemas.microsoft.com/office/powerpoint/2010/main" val="32278586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Evidence and limits</a:t>
            </a:r>
          </a:p>
        </p:txBody>
      </p:sp>
      <p:sp>
        <p:nvSpPr>
          <p:cNvPr id="3" name="cover-subtitle">
            <a:extLst xmlns:a="http://schemas.openxmlformats.org/drawingml/2006/main">
              <a:ext uri="{FF2B5EF4-FFF2-40B4-BE49-F238E27FC236}">
                <a16:creationId xmlns:a16="http://schemas.microsoft.com/office/drawing/2014/main" id="{A616F3F0-20B9-4038-8E51-F0CD17EF020B}"/>
              </a:ext>
            </a:extLst>
          </p:cNvPr>
          <p:cNvSpPr>
            <a:spLocks xmlns:a="http://schemas.openxmlformats.org/drawingml/2006/main" noGrp="1"/>
          </p:cNvSpPr>
          <p:nvPr/>
        </p:nvSpPr>
        <p:spPr>
          <a:xfrm xmlns:a="http://schemas.openxmlformats.org/drawingml/2006/main">
            <a:off x="400050" y="4762500"/>
            <a:ext cx="8096250" cy="51435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Arial"/>
                <a:ea typeface="Arial"/>
                <a:cs typeface="Arial"/>
              </a:defRPr>
            </a:pPr>
            <a:r>
              <a:t>Show the finding, its limits and the next check.</a:t>
            </a:r>
          </a:p>
        </p:txBody>
      </p:sp>
      <p:sp>
        <p:nvSpPr>
          <p:cNvPr id="4" name="sharing-acknowledgement">
            <a:extLst xmlns:a="http://schemas.openxmlformats.org/drawingml/2006/main">
              <a:ext uri="{FF2B5EF4-FFF2-40B4-BE49-F238E27FC236}">
                <a16:creationId xmlns:a16="http://schemas.microsoft.com/office/drawing/2014/main" id="{697D512D-843E-4437-81FD-E310728D03AE}"/>
              </a:ext>
            </a:extLst>
          </p:cNvPr>
          <p:cNvSpPr>
            <a:spLocks xmlns:a="http://schemas.openxmlformats.org/drawingml/2006/main" noGrp="1"/>
          </p:cNvSpPr>
          <p:nvPr/>
        </p:nvSpPr>
        <p:spPr>
          <a:xfrm xmlns:a="http://schemas.openxmlformats.org/drawingml/2006/main">
            <a:off x="400050" y="5505450"/>
            <a:ext cx="113919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a:solidFill>
                  <a:srgbClr val="000000"/>
                </a:solidFill>
                <a:latin typeface="Arial"/>
                <a:ea typeface="Arial"/>
                <a:cs typeface="Arial"/>
              </a:defRPr>
            </a:pPr>
            <a:r>
              <a:rPr sz="1800">
                <a:solidFill>
                  <a:srgbClr val="000000"/>
                </a:solidFill>
                <a:latin typeface="Arial"/>
                <a:ea typeface="Arial"/>
                <a:cs typeface="Arial"/>
              </a:rPr>
              <a:t>Sharing or continuing your work? Credit Keele's SEND team and cite</a:t>
            </a:r>
          </a:p>
          <a:p xmlns:a="http://schemas.openxmlformats.org/drawingml/2006/main">
            <a:pPr>
              <a:defRPr sz="1800">
                <a:solidFill>
                  <a:srgbClr val="000000"/>
                </a:solidFill>
                <a:latin typeface="Arial"/>
                <a:ea typeface="Arial"/>
                <a:cs typeface="Arial"/>
              </a:defRPr>
            </a:pPr>
            <a:r>
              <a:rPr sz="1800">
                <a:solidFill>
                  <a:srgbClr val="000000"/>
                </a:solidFill>
                <a:latin typeface="Arial"/>
                <a:ea typeface="Arial"/>
                <a:cs typeface="Arial"/>
              </a:rPr>
              <a:t>the data repository and paper. Describe your own contribution.</a:t>
            </a:r>
          </a:p>
          <a:p xmlns:a="http://schemas.openxmlformats.org/drawingml/2006/main">
            <a:pPr>
              <a:defRPr sz="1800">
                <a:solidFill>
                  <a:srgbClr val="000000"/>
                </a:solidFill>
                <a:latin typeface="Arial"/>
                <a:ea typeface="Arial"/>
                <a:cs typeface="Arial"/>
              </a:defRPr>
            </a:pPr>
            <a:r>
              <a:rPr sz="1800">
                <a:solidFill>
                  <a:srgbClr val="000000"/>
                </a:solidFill>
                <a:latin typeface="Arial"/>
                <a:ea typeface="Arial"/>
                <a:cs typeface="Arial"/>
              </a:rPr>
              <a:t>Full citation and example wording: ACKNOWLEDGEMENTS.md</a:t>
            </a:r>
          </a:p>
        </p:txBody>
      </p:sp>
    </p:spTree>
    <p:extLst>
      <p:ext uri="{BB962C8B-B14F-4D97-AF65-F5344CB8AC3E}">
        <p14:creationId xmlns:p14="http://schemas.microsoft.com/office/powerpoint/2010/main" val="20779957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2026-09-08T10:39:30.2060000Z</dcterms:created>
  <dcterms:modified xsi:type="dcterms:W3CDTF">2026-09-08T10:39:30.2060000Z</dcterms:modified>
</coreProperties>
</file>